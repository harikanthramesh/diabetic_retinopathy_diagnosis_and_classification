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7" r:id="rId2"/>
    <p:sldId id="259" r:id="rId3"/>
    <p:sldId id="260" r:id="rId4"/>
    <p:sldId id="271" r:id="rId5"/>
    <p:sldId id="333" r:id="rId6"/>
    <p:sldId id="320" r:id="rId7"/>
    <p:sldId id="321" r:id="rId8"/>
    <p:sldId id="322" r:id="rId9"/>
    <p:sldId id="270" r:id="rId10"/>
    <p:sldId id="262" r:id="rId11"/>
    <p:sldId id="269" r:id="rId12"/>
    <p:sldId id="324" r:id="rId13"/>
    <p:sldId id="325" r:id="rId14"/>
    <p:sldId id="326" r:id="rId15"/>
    <p:sldId id="327" r:id="rId16"/>
    <p:sldId id="328" r:id="rId17"/>
    <p:sldId id="329" r:id="rId18"/>
    <p:sldId id="340" r:id="rId19"/>
    <p:sldId id="347" r:id="rId20"/>
    <p:sldId id="352" r:id="rId21"/>
    <p:sldId id="341" r:id="rId22"/>
    <p:sldId id="342" r:id="rId23"/>
    <p:sldId id="343" r:id="rId24"/>
    <p:sldId id="346" r:id="rId25"/>
    <p:sldId id="348" r:id="rId26"/>
    <p:sldId id="349" r:id="rId27"/>
    <p:sldId id="350" r:id="rId28"/>
    <p:sldId id="332" r:id="rId29"/>
    <p:sldId id="353" r:id="rId30"/>
    <p:sldId id="344" r:id="rId31"/>
    <p:sldId id="351" r:id="rId32"/>
    <p:sldId id="263" r:id="rId33"/>
    <p:sldId id="330" r:id="rId34"/>
    <p:sldId id="331" r:id="rId35"/>
    <p:sldId id="26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29B"/>
    <a:srgbClr val="DBA328"/>
    <a:srgbClr val="3402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2F0B9-70D4-4DFA-A50E-499E11942C78}" v="13" dt="2026-02-16T08:18:24.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3447" autoAdjust="0"/>
  </p:normalViewPr>
  <p:slideViewPr>
    <p:cSldViewPr snapToGrid="0">
      <p:cViewPr varScale="1">
        <p:scale>
          <a:sx n="73" d="100"/>
          <a:sy n="73" d="100"/>
        </p:scale>
        <p:origin x="1224" y="62"/>
      </p:cViewPr>
      <p:guideLst>
        <p:guide orient="horz" pos="2160"/>
        <p:guide pos="3840"/>
      </p:guideLst>
    </p:cSldViewPr>
  </p:slideViewPr>
  <p:outlineViewPr>
    <p:cViewPr>
      <p:scale>
        <a:sx n="33" d="100"/>
        <a:sy n="33" d="100"/>
      </p:scale>
      <p:origin x="0" y="-1888"/>
    </p:cViewPr>
    <p:sldLst>
      <p:sld r:id="rId1" collapse="1"/>
    </p:sldLst>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ban Chakkaravarthi" userId="b3cf3423dc82af4b" providerId="LiveId" clId="{D006A228-695A-4EB9-9529-EA86F9B0E58C}"/>
    <pc:docChg chg="undo redo custSel addSld delSld modSld sldOrd">
      <pc:chgData name="Rooban Chakkaravarthi" userId="b3cf3423dc82af4b" providerId="LiveId" clId="{D006A228-695A-4EB9-9529-EA86F9B0E58C}" dt="2026-02-16T08:18:24.657" v="480"/>
      <pc:docMkLst>
        <pc:docMk/>
      </pc:docMkLst>
      <pc:sldChg chg="modSp mod">
        <pc:chgData name="Rooban Chakkaravarthi" userId="b3cf3423dc82af4b" providerId="LiveId" clId="{D006A228-695A-4EB9-9529-EA86F9B0E58C}" dt="2026-02-15T18:42:16.304" v="459" actId="732"/>
        <pc:sldMkLst>
          <pc:docMk/>
          <pc:sldMk cId="594302587" sldId="342"/>
        </pc:sldMkLst>
        <pc:picChg chg="mod modCrop">
          <ac:chgData name="Rooban Chakkaravarthi" userId="b3cf3423dc82af4b" providerId="LiveId" clId="{D006A228-695A-4EB9-9529-EA86F9B0E58C}" dt="2026-02-15T18:42:16.304" v="459" actId="732"/>
          <ac:picMkLst>
            <pc:docMk/>
            <pc:sldMk cId="594302587" sldId="342"/>
            <ac:picMk id="5" creationId="{D380B5D7-4DBD-A632-0360-28804FF1C9D7}"/>
          </ac:picMkLst>
        </pc:picChg>
      </pc:sldChg>
      <pc:sldChg chg="addSp delSp modSp mod">
        <pc:chgData name="Rooban Chakkaravarthi" userId="b3cf3423dc82af4b" providerId="LiveId" clId="{D006A228-695A-4EB9-9529-EA86F9B0E58C}" dt="2026-02-15T18:31:51.851" v="454" actId="1037"/>
        <pc:sldMkLst>
          <pc:docMk/>
          <pc:sldMk cId="944883355" sldId="343"/>
        </pc:sldMkLst>
        <pc:spChg chg="add">
          <ac:chgData name="Rooban Chakkaravarthi" userId="b3cf3423dc82af4b" providerId="LiveId" clId="{D006A228-695A-4EB9-9529-EA86F9B0E58C}" dt="2026-02-15T18:21:27.200" v="395"/>
          <ac:spMkLst>
            <pc:docMk/>
            <pc:sldMk cId="944883355" sldId="343"/>
            <ac:spMk id="7" creationId="{5DAD88C3-D17D-6D44-5442-3C33427007CF}"/>
          </ac:spMkLst>
        </pc:spChg>
        <pc:spChg chg="add mod">
          <ac:chgData name="Rooban Chakkaravarthi" userId="b3cf3423dc82af4b" providerId="LiveId" clId="{D006A228-695A-4EB9-9529-EA86F9B0E58C}" dt="2026-02-15T18:21:34.589" v="397"/>
          <ac:spMkLst>
            <pc:docMk/>
            <pc:sldMk cId="944883355" sldId="343"/>
            <ac:spMk id="8" creationId="{2482D0C3-A120-685D-1EBF-35064C919CF8}"/>
          </ac:spMkLst>
        </pc:spChg>
        <pc:spChg chg="add mod">
          <ac:chgData name="Rooban Chakkaravarthi" userId="b3cf3423dc82af4b" providerId="LiveId" clId="{D006A228-695A-4EB9-9529-EA86F9B0E58C}" dt="2026-02-15T18:21:49.867" v="402" actId="1076"/>
          <ac:spMkLst>
            <pc:docMk/>
            <pc:sldMk cId="944883355" sldId="343"/>
            <ac:spMk id="9" creationId="{837A9B7F-7024-58B3-B419-45ED8A37818C}"/>
          </ac:spMkLst>
        </pc:spChg>
        <pc:spChg chg="add">
          <ac:chgData name="Rooban Chakkaravarthi" userId="b3cf3423dc82af4b" providerId="LiveId" clId="{D006A228-695A-4EB9-9529-EA86F9B0E58C}" dt="2026-02-15T18:22:26.567" v="403"/>
          <ac:spMkLst>
            <pc:docMk/>
            <pc:sldMk cId="944883355" sldId="343"/>
            <ac:spMk id="10" creationId="{E8496C5A-6AC7-1376-E257-505EA60C7595}"/>
          </ac:spMkLst>
        </pc:spChg>
        <pc:picChg chg="del mod">
          <ac:chgData name="Rooban Chakkaravarthi" userId="b3cf3423dc82af4b" providerId="LiveId" clId="{D006A228-695A-4EB9-9529-EA86F9B0E58C}" dt="2026-02-15T18:21:26.315" v="394" actId="478"/>
          <ac:picMkLst>
            <pc:docMk/>
            <pc:sldMk cId="944883355" sldId="343"/>
            <ac:picMk id="5" creationId="{4AAFD408-5F3E-C863-D14B-223F23313C3D}"/>
          </ac:picMkLst>
        </pc:picChg>
        <pc:picChg chg="add mod">
          <ac:chgData name="Rooban Chakkaravarthi" userId="b3cf3423dc82af4b" providerId="LiveId" clId="{D006A228-695A-4EB9-9529-EA86F9B0E58C}" dt="2026-02-15T18:31:51.851" v="454" actId="1037"/>
          <ac:picMkLst>
            <pc:docMk/>
            <pc:sldMk cId="944883355" sldId="343"/>
            <ac:picMk id="12" creationId="{BEAEF7B2-CFFB-0696-DEBB-697EC4E378C0}"/>
          </ac:picMkLst>
        </pc:picChg>
        <pc:picChg chg="add mod modCrop">
          <ac:chgData name="Rooban Chakkaravarthi" userId="b3cf3423dc82af4b" providerId="LiveId" clId="{D006A228-695A-4EB9-9529-EA86F9B0E58C}" dt="2026-02-15T18:26:25.576" v="432" actId="1035"/>
          <ac:picMkLst>
            <pc:docMk/>
            <pc:sldMk cId="944883355" sldId="343"/>
            <ac:picMk id="14" creationId="{8B9B342A-D34D-3E0C-8A8A-B1C4D1C45411}"/>
          </ac:picMkLst>
        </pc:picChg>
      </pc:sldChg>
      <pc:sldChg chg="add del">
        <pc:chgData name="Rooban Chakkaravarthi" userId="b3cf3423dc82af4b" providerId="LiveId" clId="{D006A228-695A-4EB9-9529-EA86F9B0E58C}" dt="2026-02-16T08:18:13.425" v="479" actId="2696"/>
        <pc:sldMkLst>
          <pc:docMk/>
          <pc:sldMk cId="2056775011" sldId="345"/>
        </pc:sldMkLst>
      </pc:sldChg>
      <pc:sldChg chg="addSp delSp modSp add mod ord">
        <pc:chgData name="Rooban Chakkaravarthi" userId="b3cf3423dc82af4b" providerId="LiveId" clId="{D006A228-695A-4EB9-9529-EA86F9B0E58C}" dt="2026-02-15T18:44:13.812" v="477"/>
        <pc:sldMkLst>
          <pc:docMk/>
          <pc:sldMk cId="3229103512" sldId="346"/>
        </pc:sldMkLst>
        <pc:picChg chg="del mod">
          <ac:chgData name="Rooban Chakkaravarthi" userId="b3cf3423dc82af4b" providerId="LiveId" clId="{D006A228-695A-4EB9-9529-EA86F9B0E58C}" dt="2026-02-15T18:43:04.740" v="465" actId="478"/>
          <ac:picMkLst>
            <pc:docMk/>
            <pc:sldMk cId="3229103512" sldId="346"/>
            <ac:picMk id="5" creationId="{E9A51166-DC56-94E8-AE6F-0123661E7167}"/>
          </ac:picMkLst>
        </pc:picChg>
        <pc:picChg chg="add mod modCrop">
          <ac:chgData name="Rooban Chakkaravarthi" userId="b3cf3423dc82af4b" providerId="LiveId" clId="{D006A228-695A-4EB9-9529-EA86F9B0E58C}" dt="2026-02-15T18:44:03.866" v="475" actId="14100"/>
          <ac:picMkLst>
            <pc:docMk/>
            <pc:sldMk cId="3229103512" sldId="346"/>
            <ac:picMk id="8" creationId="{AAF80D14-68ED-BC58-1FDD-679E8C2B8CD8}"/>
          </ac:picMkLst>
        </pc:picChg>
      </pc:sldChg>
      <pc:sldChg chg="add">
        <pc:chgData name="Rooban Chakkaravarthi" userId="b3cf3423dc82af4b" providerId="LiveId" clId="{D006A228-695A-4EB9-9529-EA86F9B0E58C}" dt="2026-02-16T08:18:24.657" v="480"/>
        <pc:sldMkLst>
          <pc:docMk/>
          <pc:sldMk cId="2291968509"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86"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1048687"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E3B83-238D-4263-AA1D-6A9AEEDD5BCE}" type="datetimeFigureOut">
              <a:rPr lang="en-IN" smtClean="0"/>
              <a:t>30-03-2026</a:t>
            </a:fld>
            <a:endParaRPr lang="en-IN" dirty="0"/>
          </a:p>
        </p:txBody>
      </p:sp>
      <p:sp>
        <p:nvSpPr>
          <p:cNvPr id="1048688"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1048689"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0"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1048691"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C57312-3816-49CA-8240-24782E37CC60}" type="slidenum">
              <a:rPr lang="en-IN" smtClean="0"/>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1048589" name="Google Shape;6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590" name="Google Shape;6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1048600" name="Google Shape;8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1" name="Google Shape;8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1048604" name="Google Shape;8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5" name="Google Shape;8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5FD06BFC-6765-8A1F-F42A-CB5C6176FAE8}"/>
            </a:ext>
          </a:extLst>
        </p:cNvPr>
        <p:cNvGrpSpPr/>
        <p:nvPr/>
      </p:nvGrpSpPr>
      <p:grpSpPr>
        <a:xfrm>
          <a:off x="0" y="0"/>
          <a:ext cx="0" cy="0"/>
          <a:chOff x="0" y="0"/>
          <a:chExt cx="0" cy="0"/>
        </a:xfrm>
      </p:grpSpPr>
      <p:sp>
        <p:nvSpPr>
          <p:cNvPr id="1048604" name="Google Shape;88;p4:notes">
            <a:extLst>
              <a:ext uri="{FF2B5EF4-FFF2-40B4-BE49-F238E27FC236}">
                <a16:creationId xmlns:a16="http://schemas.microsoft.com/office/drawing/2014/main" id="{3AADFA15-7BAC-DEE1-CD1F-E08C11916C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5" name="Google Shape;89;p4:notes">
            <a:extLst>
              <a:ext uri="{FF2B5EF4-FFF2-40B4-BE49-F238E27FC236}">
                <a16:creationId xmlns:a16="http://schemas.microsoft.com/office/drawing/2014/main" id="{506B0A4D-10E0-1EAE-BBA5-0EBBFF30E5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7195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4C1CBD35-75A9-650A-4B08-0C757DEC869E}"/>
            </a:ext>
          </a:extLst>
        </p:cNvPr>
        <p:cNvGrpSpPr/>
        <p:nvPr/>
      </p:nvGrpSpPr>
      <p:grpSpPr>
        <a:xfrm>
          <a:off x="0" y="0"/>
          <a:ext cx="0" cy="0"/>
          <a:chOff x="0" y="0"/>
          <a:chExt cx="0" cy="0"/>
        </a:xfrm>
      </p:grpSpPr>
      <p:sp>
        <p:nvSpPr>
          <p:cNvPr id="1048600" name="Google Shape;88;p4:notes">
            <a:extLst>
              <a:ext uri="{FF2B5EF4-FFF2-40B4-BE49-F238E27FC236}">
                <a16:creationId xmlns:a16="http://schemas.microsoft.com/office/drawing/2014/main" id="{48547843-1067-CDC5-3B52-263A28683F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1" name="Google Shape;89;p4:notes">
            <a:extLst>
              <a:ext uri="{FF2B5EF4-FFF2-40B4-BE49-F238E27FC236}">
                <a16:creationId xmlns:a16="http://schemas.microsoft.com/office/drawing/2014/main" id="{82451C0B-2663-D250-5D43-3C8B791522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2543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973436E-DAA5-97CD-42B4-61FD63494853}"/>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A93DB242-3867-67C2-F4DD-A61725D18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751F245B-C795-0810-4E58-8635C1690F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3568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48612" name="Google Shape;1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3" name="Google Shape;10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C181585-3935-B048-818D-D01BBFA5A0D4}"/>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C2937606-E001-00BE-1989-6783CECC50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6C842754-BDDA-B959-3BA6-09970236F7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6227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A36A9861-1CEE-500A-5C1B-2AC3FB991615}"/>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A38E0ECD-0ADB-EEF7-DB3A-BAB9CCE12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48828CD7-9E4C-2F85-9825-4442782367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56193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6BD623A5-979D-CF20-B5C4-B85CB5BCB2C7}"/>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4843FB09-D807-FEB1-9362-0E1471F93F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D8B8770A-C171-C97C-4753-7EB183603D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68684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A370CCB3-BEC1-3976-2E8D-FA530DE870CD}"/>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BDACF87C-B6C5-394E-4E2D-EA0C58A427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79A0BA36-5C43-87B0-7080-E41E98DDAD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4018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E54399A-E6BB-2640-BA7F-7FC0C4D8940E}"/>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E5B514C4-6424-79C1-060D-173EB01999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74207C30-B897-6A18-9952-741FA05F91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1755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6E1B20CF-951B-0D94-DD49-929514B08A34}"/>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5489C972-C8F7-AAE4-E213-C6E20476B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E3440671-8260-3AB5-36E7-CFF8982FA1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4462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EC782A72-A61B-341B-F263-8FCCD7345F2B}"/>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B2808490-B5C9-A049-8F39-B2B1A438D9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1A2EB6E6-F4B7-86C8-8085-31EAD405E6F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82215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D4389602-13CA-74C1-2A39-70CB4C0F3EDB}"/>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AC3861A8-7E0C-3649-6EF6-06F285F664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922BAD8F-D434-B925-5ABA-A1C684383D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5149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D7F24C10-6E22-BB2F-F502-25839F788C15}"/>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CDCD1CA5-DC37-8640-6217-871F3B8AB2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C3918971-7084-DFFD-3861-D7FBBED7F8A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5157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D0B94664-D134-9B45-9039-B6CB79042BCB}"/>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7D1A2B8E-1F14-082B-E624-E2C18980BF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C9E0EA14-53EF-4B85-B002-E8E1F04F9B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34816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A61A4316-45A4-4646-5C94-FB374A841BE2}"/>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41C78A8B-B31D-0A74-9F65-063A6B3F56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DE419CF9-8712-1C32-0B50-16760AB1F21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599300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525A664D-907B-6F75-1C10-F99EB6D18F9B}"/>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7C74D163-9091-CE75-FEF7-C75581DF14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BA7E16AD-7ECD-6E68-8434-3190D9FAF6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9661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9C486AFE-2AC5-970F-AB59-6CFFE0B389FF}"/>
            </a:ext>
          </a:extLst>
        </p:cNvPr>
        <p:cNvGrpSpPr/>
        <p:nvPr/>
      </p:nvGrpSpPr>
      <p:grpSpPr>
        <a:xfrm>
          <a:off x="0" y="0"/>
          <a:ext cx="0" cy="0"/>
          <a:chOff x="0" y="0"/>
          <a:chExt cx="0" cy="0"/>
        </a:xfrm>
      </p:grpSpPr>
      <p:sp>
        <p:nvSpPr>
          <p:cNvPr id="1048608" name="Google Shape;94;p5:notes">
            <a:extLst>
              <a:ext uri="{FF2B5EF4-FFF2-40B4-BE49-F238E27FC236}">
                <a16:creationId xmlns:a16="http://schemas.microsoft.com/office/drawing/2014/main" id="{7282DF35-EC1A-9502-FBF1-3D723E5E1B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09" name="Google Shape;95;p5:notes">
            <a:extLst>
              <a:ext uri="{FF2B5EF4-FFF2-40B4-BE49-F238E27FC236}">
                <a16:creationId xmlns:a16="http://schemas.microsoft.com/office/drawing/2014/main" id="{C7F42A8A-62B6-6596-B171-CAA5F070FDF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675372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48616" name="Google Shape;10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7" name="Google Shape;10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7205249B-B3D4-D794-AAB9-5F7211714E42}"/>
            </a:ext>
          </a:extLst>
        </p:cNvPr>
        <p:cNvGrpSpPr/>
        <p:nvPr/>
      </p:nvGrpSpPr>
      <p:grpSpPr>
        <a:xfrm>
          <a:off x="0" y="0"/>
          <a:ext cx="0" cy="0"/>
          <a:chOff x="0" y="0"/>
          <a:chExt cx="0" cy="0"/>
        </a:xfrm>
      </p:grpSpPr>
      <p:sp>
        <p:nvSpPr>
          <p:cNvPr id="1048616" name="Google Shape;100;p6:notes">
            <a:extLst>
              <a:ext uri="{FF2B5EF4-FFF2-40B4-BE49-F238E27FC236}">
                <a16:creationId xmlns:a16="http://schemas.microsoft.com/office/drawing/2014/main" id="{42EDAAAC-DCD6-2137-05CA-D332DBB4B6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7" name="Google Shape;101;p6:notes">
            <a:extLst>
              <a:ext uri="{FF2B5EF4-FFF2-40B4-BE49-F238E27FC236}">
                <a16:creationId xmlns:a16="http://schemas.microsoft.com/office/drawing/2014/main" id="{02ED7CDF-A590-2198-526D-153FBF13A2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672510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A5C8F6C8-B044-B54B-79E7-93F0756D8C2A}"/>
            </a:ext>
          </a:extLst>
        </p:cNvPr>
        <p:cNvGrpSpPr/>
        <p:nvPr/>
      </p:nvGrpSpPr>
      <p:grpSpPr>
        <a:xfrm>
          <a:off x="0" y="0"/>
          <a:ext cx="0" cy="0"/>
          <a:chOff x="0" y="0"/>
          <a:chExt cx="0" cy="0"/>
        </a:xfrm>
      </p:grpSpPr>
      <p:sp>
        <p:nvSpPr>
          <p:cNvPr id="1048616" name="Google Shape;100;p6:notes">
            <a:extLst>
              <a:ext uri="{FF2B5EF4-FFF2-40B4-BE49-F238E27FC236}">
                <a16:creationId xmlns:a16="http://schemas.microsoft.com/office/drawing/2014/main" id="{6039A817-B785-B46D-34E4-20396B9F1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617" name="Google Shape;101;p6:notes">
            <a:extLst>
              <a:ext uri="{FF2B5EF4-FFF2-40B4-BE49-F238E27FC236}">
                <a16:creationId xmlns:a16="http://schemas.microsoft.com/office/drawing/2014/main" id="{19D49FF2-CC28-FD28-863A-B438E79FD7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5341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048631" name="Google Shape;112;g2b816669d10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32" name="Google Shape;113;g2b816669d10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33"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1048634"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1048635" name="Date Placeholder 3"/>
          <p:cNvSpPr>
            <a:spLocks noGrp="1"/>
          </p:cNvSpPr>
          <p:nvPr>
            <p:ph type="dt" sz="half" idx="10"/>
          </p:nvPr>
        </p:nvSpPr>
        <p:spPr/>
        <p:txBody>
          <a:bodyPr/>
          <a:lstStyle/>
          <a:p>
            <a:fld id="{F7941607-FD36-4E7F-9325-0D9B19BF2A93}" type="datetime1">
              <a:rPr lang="en-IN" smtClean="0"/>
              <a:t>30-03-2026</a:t>
            </a:fld>
            <a:endParaRPr lang="en-IN" dirty="0"/>
          </a:p>
        </p:txBody>
      </p:sp>
      <p:sp>
        <p:nvSpPr>
          <p:cNvPr id="1048636" name="Footer Placeholder 4"/>
          <p:cNvSpPr>
            <a:spLocks noGrp="1"/>
          </p:cNvSpPr>
          <p:nvPr>
            <p:ph type="ftr" sz="quarter" idx="11"/>
          </p:nvPr>
        </p:nvSpPr>
        <p:spPr/>
        <p:txBody>
          <a:bodyPr/>
          <a:lstStyle/>
          <a:p>
            <a:endParaRPr lang="en-IN" dirty="0"/>
          </a:p>
        </p:txBody>
      </p:sp>
      <p:sp>
        <p:nvSpPr>
          <p:cNvPr id="1048637" name="Slide Number Placeholder 5"/>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47" name="Title 1"/>
          <p:cNvSpPr>
            <a:spLocks noGrp="1"/>
          </p:cNvSpPr>
          <p:nvPr>
            <p:ph type="title"/>
          </p:nvPr>
        </p:nvSpPr>
        <p:spPr/>
        <p:txBody>
          <a:bodyPr/>
          <a:lstStyle/>
          <a:p>
            <a:r>
              <a:rPr lang="en-US"/>
              <a:t>Click to edit Master title style</a:t>
            </a:r>
            <a:endParaRPr lang="en-IN"/>
          </a:p>
        </p:txBody>
      </p:sp>
      <p:sp>
        <p:nvSpPr>
          <p:cNvPr id="1048648"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9" name="Date Placeholder 3"/>
          <p:cNvSpPr>
            <a:spLocks noGrp="1"/>
          </p:cNvSpPr>
          <p:nvPr>
            <p:ph type="dt" sz="half" idx="10"/>
          </p:nvPr>
        </p:nvSpPr>
        <p:spPr/>
        <p:txBody>
          <a:bodyPr/>
          <a:lstStyle/>
          <a:p>
            <a:fld id="{E263B9CD-5EFD-448E-B307-227C93BA4C16}" type="datetime1">
              <a:rPr lang="en-IN" smtClean="0"/>
              <a:t>30-03-2026</a:t>
            </a:fld>
            <a:endParaRPr lang="en-IN" dirty="0"/>
          </a:p>
        </p:txBody>
      </p:sp>
      <p:sp>
        <p:nvSpPr>
          <p:cNvPr id="1048650" name="Footer Placeholder 4"/>
          <p:cNvSpPr>
            <a:spLocks noGrp="1"/>
          </p:cNvSpPr>
          <p:nvPr>
            <p:ph type="ftr" sz="quarter" idx="11"/>
          </p:nvPr>
        </p:nvSpPr>
        <p:spPr/>
        <p:txBody>
          <a:bodyPr/>
          <a:lstStyle/>
          <a:p>
            <a:endParaRPr lang="en-IN" dirty="0"/>
          </a:p>
        </p:txBody>
      </p:sp>
      <p:sp>
        <p:nvSpPr>
          <p:cNvPr id="1048651" name="Slide Number Placeholder 5"/>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581"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1048582"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583" name="Date Placeholder 3"/>
          <p:cNvSpPr>
            <a:spLocks noGrp="1"/>
          </p:cNvSpPr>
          <p:nvPr>
            <p:ph type="dt" sz="half" idx="10"/>
          </p:nvPr>
        </p:nvSpPr>
        <p:spPr/>
        <p:txBody>
          <a:bodyPr/>
          <a:lstStyle/>
          <a:p>
            <a:fld id="{6AC32236-693A-425A-BF40-05EAF5585D13}" type="datetime1">
              <a:rPr lang="en-IN" smtClean="0"/>
              <a:t>30-03-2026</a:t>
            </a:fld>
            <a:endParaRPr lang="en-IN" dirty="0"/>
          </a:p>
        </p:txBody>
      </p:sp>
      <p:sp>
        <p:nvSpPr>
          <p:cNvPr id="1048584" name="Footer Placeholder 4"/>
          <p:cNvSpPr>
            <a:spLocks noGrp="1"/>
          </p:cNvSpPr>
          <p:nvPr>
            <p:ph type="ftr" sz="quarter" idx="11"/>
          </p:nvPr>
        </p:nvSpPr>
        <p:spPr/>
        <p:txBody>
          <a:bodyPr/>
          <a:lstStyle/>
          <a:p>
            <a:endParaRPr lang="en-IN" dirty="0"/>
          </a:p>
        </p:txBody>
      </p:sp>
      <p:sp>
        <p:nvSpPr>
          <p:cNvPr id="1048585" name="Slide Number Placeholder 5"/>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63" name="Title 1"/>
          <p:cNvSpPr>
            <a:spLocks noGrp="1"/>
          </p:cNvSpPr>
          <p:nvPr>
            <p:ph type="title"/>
          </p:nvPr>
        </p:nvSpPr>
        <p:spPr/>
        <p:txBody>
          <a:bodyPr/>
          <a:lstStyle/>
          <a:p>
            <a:r>
              <a:rPr lang="en-US"/>
              <a:t>Click to edit Master title style</a:t>
            </a:r>
            <a:endParaRPr lang="en-IN"/>
          </a:p>
        </p:txBody>
      </p:sp>
      <p:sp>
        <p:nvSpPr>
          <p:cNvPr id="1048664"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5"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6" name="Date Placeholder 4"/>
          <p:cNvSpPr>
            <a:spLocks noGrp="1"/>
          </p:cNvSpPr>
          <p:nvPr>
            <p:ph type="dt" sz="half" idx="10"/>
          </p:nvPr>
        </p:nvSpPr>
        <p:spPr/>
        <p:txBody>
          <a:bodyPr/>
          <a:lstStyle/>
          <a:p>
            <a:fld id="{4250482D-218F-4B82-B8D2-D41C32415250}" type="datetime1">
              <a:rPr lang="en-IN" smtClean="0"/>
              <a:t>30-03-2026</a:t>
            </a:fld>
            <a:endParaRPr lang="en-IN" dirty="0"/>
          </a:p>
        </p:txBody>
      </p:sp>
      <p:sp>
        <p:nvSpPr>
          <p:cNvPr id="1048667" name="Footer Placeholder 5"/>
          <p:cNvSpPr>
            <a:spLocks noGrp="1"/>
          </p:cNvSpPr>
          <p:nvPr>
            <p:ph type="ftr" sz="quarter" idx="11"/>
          </p:nvPr>
        </p:nvSpPr>
        <p:spPr/>
        <p:txBody>
          <a:bodyPr/>
          <a:lstStyle/>
          <a:p>
            <a:endParaRPr lang="en-IN" dirty="0"/>
          </a:p>
        </p:txBody>
      </p:sp>
      <p:sp>
        <p:nvSpPr>
          <p:cNvPr id="1048668" name="Slide Number Placeholder 6"/>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9"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1048670"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1"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2"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73"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4" name="Date Placeholder 6"/>
          <p:cNvSpPr>
            <a:spLocks noGrp="1"/>
          </p:cNvSpPr>
          <p:nvPr>
            <p:ph type="dt" sz="half" idx="10"/>
          </p:nvPr>
        </p:nvSpPr>
        <p:spPr/>
        <p:txBody>
          <a:bodyPr/>
          <a:lstStyle/>
          <a:p>
            <a:fld id="{DCD05AD1-9445-45FD-AB65-A128DC461A0B}" type="datetime1">
              <a:rPr lang="en-IN" smtClean="0"/>
              <a:t>30-03-2026</a:t>
            </a:fld>
            <a:endParaRPr lang="en-IN" dirty="0"/>
          </a:p>
        </p:txBody>
      </p:sp>
      <p:sp>
        <p:nvSpPr>
          <p:cNvPr id="1048675" name="Footer Placeholder 7"/>
          <p:cNvSpPr>
            <a:spLocks noGrp="1"/>
          </p:cNvSpPr>
          <p:nvPr>
            <p:ph type="ftr" sz="quarter" idx="11"/>
          </p:nvPr>
        </p:nvSpPr>
        <p:spPr/>
        <p:txBody>
          <a:bodyPr/>
          <a:lstStyle/>
          <a:p>
            <a:endParaRPr lang="en-IN" dirty="0"/>
          </a:p>
        </p:txBody>
      </p:sp>
      <p:sp>
        <p:nvSpPr>
          <p:cNvPr id="1048676" name="Slide Number Placeholder 8"/>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38" name="Title 1"/>
          <p:cNvSpPr>
            <a:spLocks noGrp="1"/>
          </p:cNvSpPr>
          <p:nvPr>
            <p:ph type="title"/>
          </p:nvPr>
        </p:nvSpPr>
        <p:spPr/>
        <p:txBody>
          <a:bodyPr/>
          <a:lstStyle/>
          <a:p>
            <a:r>
              <a:rPr lang="en-US"/>
              <a:t>Click to edit Master title style</a:t>
            </a:r>
            <a:endParaRPr lang="en-IN"/>
          </a:p>
        </p:txBody>
      </p:sp>
      <p:sp>
        <p:nvSpPr>
          <p:cNvPr id="1048639" name="Date Placeholder 2"/>
          <p:cNvSpPr>
            <a:spLocks noGrp="1"/>
          </p:cNvSpPr>
          <p:nvPr>
            <p:ph type="dt" sz="half" idx="10"/>
          </p:nvPr>
        </p:nvSpPr>
        <p:spPr/>
        <p:txBody>
          <a:bodyPr/>
          <a:lstStyle/>
          <a:p>
            <a:fld id="{FA056A75-E6C5-4A46-A958-3684757463E8}" type="datetime1">
              <a:rPr lang="en-IN" smtClean="0"/>
              <a:t>30-03-2026</a:t>
            </a:fld>
            <a:endParaRPr lang="en-IN" dirty="0"/>
          </a:p>
        </p:txBody>
      </p:sp>
      <p:sp>
        <p:nvSpPr>
          <p:cNvPr id="1048640" name="Footer Placeholder 3"/>
          <p:cNvSpPr>
            <a:spLocks noGrp="1"/>
          </p:cNvSpPr>
          <p:nvPr>
            <p:ph type="ftr" sz="quarter" idx="11"/>
          </p:nvPr>
        </p:nvSpPr>
        <p:spPr/>
        <p:txBody>
          <a:bodyPr/>
          <a:lstStyle/>
          <a:p>
            <a:endParaRPr lang="en-IN" dirty="0"/>
          </a:p>
        </p:txBody>
      </p:sp>
      <p:sp>
        <p:nvSpPr>
          <p:cNvPr id="1048641" name="Slide Number Placeholder 4"/>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77" name="Date Placeholder 1"/>
          <p:cNvSpPr>
            <a:spLocks noGrp="1"/>
          </p:cNvSpPr>
          <p:nvPr>
            <p:ph type="dt" sz="half" idx="10"/>
          </p:nvPr>
        </p:nvSpPr>
        <p:spPr/>
        <p:txBody>
          <a:bodyPr/>
          <a:lstStyle/>
          <a:p>
            <a:fld id="{02D57D44-5455-46C1-A965-6CEBA9279166}" type="datetime1">
              <a:rPr lang="en-IN" smtClean="0"/>
              <a:t>30-03-2026</a:t>
            </a:fld>
            <a:endParaRPr lang="en-IN" dirty="0"/>
          </a:p>
        </p:txBody>
      </p:sp>
      <p:sp>
        <p:nvSpPr>
          <p:cNvPr id="1048678" name="Footer Placeholder 2"/>
          <p:cNvSpPr>
            <a:spLocks noGrp="1"/>
          </p:cNvSpPr>
          <p:nvPr>
            <p:ph type="ftr" sz="quarter" idx="11"/>
          </p:nvPr>
        </p:nvSpPr>
        <p:spPr/>
        <p:txBody>
          <a:bodyPr/>
          <a:lstStyle/>
          <a:p>
            <a:endParaRPr lang="en-IN" dirty="0"/>
          </a:p>
        </p:txBody>
      </p:sp>
      <p:sp>
        <p:nvSpPr>
          <p:cNvPr id="1048679" name="Slide Number Placeholder 3"/>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8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8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83" name="Date Placeholder 4"/>
          <p:cNvSpPr>
            <a:spLocks noGrp="1"/>
          </p:cNvSpPr>
          <p:nvPr>
            <p:ph type="dt" sz="half" idx="10"/>
          </p:nvPr>
        </p:nvSpPr>
        <p:spPr/>
        <p:txBody>
          <a:bodyPr/>
          <a:lstStyle/>
          <a:p>
            <a:fld id="{6364EEF6-8FB0-4DE0-AF07-A7769982580C}" type="datetime1">
              <a:rPr lang="en-IN" smtClean="0"/>
              <a:t>30-03-2026</a:t>
            </a:fld>
            <a:endParaRPr lang="en-IN" dirty="0"/>
          </a:p>
        </p:txBody>
      </p:sp>
      <p:sp>
        <p:nvSpPr>
          <p:cNvPr id="1048684" name="Footer Placeholder 5"/>
          <p:cNvSpPr>
            <a:spLocks noGrp="1"/>
          </p:cNvSpPr>
          <p:nvPr>
            <p:ph type="ftr" sz="quarter" idx="11"/>
          </p:nvPr>
        </p:nvSpPr>
        <p:spPr/>
        <p:txBody>
          <a:bodyPr/>
          <a:lstStyle/>
          <a:p>
            <a:endParaRPr lang="en-IN" dirty="0"/>
          </a:p>
        </p:txBody>
      </p:sp>
      <p:sp>
        <p:nvSpPr>
          <p:cNvPr id="1048685" name="Slide Number Placeholder 6"/>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104865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104865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5" name="Date Placeholder 4"/>
          <p:cNvSpPr>
            <a:spLocks noGrp="1"/>
          </p:cNvSpPr>
          <p:nvPr>
            <p:ph type="dt" sz="half" idx="10"/>
          </p:nvPr>
        </p:nvSpPr>
        <p:spPr/>
        <p:txBody>
          <a:bodyPr/>
          <a:lstStyle/>
          <a:p>
            <a:fld id="{1A3310BD-BA43-454A-9774-FE534B6568C0}" type="datetime1">
              <a:rPr lang="en-IN" smtClean="0"/>
              <a:t>30-03-2026</a:t>
            </a:fld>
            <a:endParaRPr lang="en-IN" dirty="0"/>
          </a:p>
        </p:txBody>
      </p:sp>
      <p:sp>
        <p:nvSpPr>
          <p:cNvPr id="1048656" name="Footer Placeholder 5"/>
          <p:cNvSpPr>
            <a:spLocks noGrp="1"/>
          </p:cNvSpPr>
          <p:nvPr>
            <p:ph type="ftr" sz="quarter" idx="11"/>
          </p:nvPr>
        </p:nvSpPr>
        <p:spPr/>
        <p:txBody>
          <a:bodyPr/>
          <a:lstStyle/>
          <a:p>
            <a:endParaRPr lang="en-IN" dirty="0"/>
          </a:p>
        </p:txBody>
      </p:sp>
      <p:sp>
        <p:nvSpPr>
          <p:cNvPr id="1048657" name="Slide Number Placeholder 6"/>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8" name="Title 1"/>
          <p:cNvSpPr>
            <a:spLocks noGrp="1"/>
          </p:cNvSpPr>
          <p:nvPr>
            <p:ph type="title"/>
          </p:nvPr>
        </p:nvSpPr>
        <p:spPr/>
        <p:txBody>
          <a:bodyPr/>
          <a:lstStyle/>
          <a:p>
            <a:r>
              <a:rPr lang="en-US"/>
              <a:t>Click to edit Master title style</a:t>
            </a:r>
            <a:endParaRPr lang="en-IN"/>
          </a:p>
        </p:txBody>
      </p:sp>
      <p:sp>
        <p:nvSpPr>
          <p:cNvPr id="104865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60" name="Date Placeholder 3"/>
          <p:cNvSpPr>
            <a:spLocks noGrp="1"/>
          </p:cNvSpPr>
          <p:nvPr>
            <p:ph type="dt" sz="half" idx="10"/>
          </p:nvPr>
        </p:nvSpPr>
        <p:spPr/>
        <p:txBody>
          <a:bodyPr/>
          <a:lstStyle/>
          <a:p>
            <a:fld id="{8A87DEA1-B683-47B9-9141-9B8309188D30}" type="datetime1">
              <a:rPr lang="en-IN" smtClean="0"/>
              <a:t>30-03-2026</a:t>
            </a:fld>
            <a:endParaRPr lang="en-IN" dirty="0"/>
          </a:p>
        </p:txBody>
      </p:sp>
      <p:sp>
        <p:nvSpPr>
          <p:cNvPr id="1048661" name="Footer Placeholder 4"/>
          <p:cNvSpPr>
            <a:spLocks noGrp="1"/>
          </p:cNvSpPr>
          <p:nvPr>
            <p:ph type="ftr" sz="quarter" idx="11"/>
          </p:nvPr>
        </p:nvSpPr>
        <p:spPr/>
        <p:txBody>
          <a:bodyPr/>
          <a:lstStyle/>
          <a:p>
            <a:endParaRPr lang="en-IN" dirty="0"/>
          </a:p>
        </p:txBody>
      </p:sp>
      <p:sp>
        <p:nvSpPr>
          <p:cNvPr id="1048662" name="Slide Number Placeholder 5"/>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104864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4" name="Date Placeholder 3"/>
          <p:cNvSpPr>
            <a:spLocks noGrp="1"/>
          </p:cNvSpPr>
          <p:nvPr>
            <p:ph type="dt" sz="half" idx="10"/>
          </p:nvPr>
        </p:nvSpPr>
        <p:spPr/>
        <p:txBody>
          <a:bodyPr/>
          <a:lstStyle/>
          <a:p>
            <a:fld id="{243D61BB-746C-435D-A343-C7C8530E9444}" type="datetime1">
              <a:rPr lang="en-IN" smtClean="0"/>
              <a:t>30-03-2026</a:t>
            </a:fld>
            <a:endParaRPr lang="en-IN" dirty="0"/>
          </a:p>
        </p:txBody>
      </p:sp>
      <p:sp>
        <p:nvSpPr>
          <p:cNvPr id="1048645" name="Footer Placeholder 4"/>
          <p:cNvSpPr>
            <a:spLocks noGrp="1"/>
          </p:cNvSpPr>
          <p:nvPr>
            <p:ph type="ftr" sz="quarter" idx="11"/>
          </p:nvPr>
        </p:nvSpPr>
        <p:spPr/>
        <p:txBody>
          <a:bodyPr/>
          <a:lstStyle/>
          <a:p>
            <a:endParaRPr lang="en-IN" dirty="0"/>
          </a:p>
        </p:txBody>
      </p:sp>
      <p:sp>
        <p:nvSpPr>
          <p:cNvPr id="1048646" name="Slide Number Placeholder 5"/>
          <p:cNvSpPr>
            <a:spLocks noGrp="1"/>
          </p:cNvSpPr>
          <p:nvPr>
            <p:ph type="sldNum" sz="quarter" idx="12"/>
          </p:nvPr>
        </p:nvSpPr>
        <p:spPr/>
        <p:txBody>
          <a:bodyPr/>
          <a:lstStyle/>
          <a:p>
            <a:fld id="{BDD15B8C-3E3D-40B6-859E-6DE4B63CF92E}" type="slidenum">
              <a:rPr lang="en-IN" smtClean="0"/>
              <a:t>‹#›</a:t>
            </a:fld>
            <a:endParaRPr lang="en-I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048591" name="Google Shape;12;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Proxima Nova"/>
              <a:buNone/>
              <a:defRPr>
                <a:latin typeface="Proxima Nova"/>
                <a:ea typeface="Proxima Nova"/>
                <a:cs typeface="Proxima Nova"/>
                <a:sym typeface="Proxima Nova"/>
              </a:defRPr>
            </a:lvl1pPr>
            <a:lvl2pPr lvl="1" algn="l">
              <a:lnSpc>
                <a:spcPct val="100000"/>
              </a:lnSpc>
              <a:spcBef>
                <a:spcPts val="0"/>
              </a:spcBef>
              <a:spcAft>
                <a:spcPts val="0"/>
              </a:spcAft>
              <a:buSzPts val="2800"/>
              <a:buNone/>
            </a:lvl2pPr>
            <a:lvl3pPr lvl="2" algn="l">
              <a:lnSpc>
                <a:spcPct val="100000"/>
              </a:lnSpc>
              <a:spcBef>
                <a:spcPts val="0"/>
              </a:spcBef>
              <a:spcAft>
                <a:spcPts val="0"/>
              </a:spcAft>
              <a:buSzPts val="2800"/>
              <a:buNone/>
            </a:lvl3pPr>
            <a:lvl4pPr lvl="3" algn="l">
              <a:lnSpc>
                <a:spcPct val="100000"/>
              </a:lnSpc>
              <a:spcBef>
                <a:spcPts val="0"/>
              </a:spcBef>
              <a:spcAft>
                <a:spcPts val="0"/>
              </a:spcAft>
              <a:buSzPts val="2800"/>
              <a:buNone/>
            </a:lvl4pPr>
            <a:lvl5pPr lvl="4" algn="l">
              <a:lnSpc>
                <a:spcPct val="100000"/>
              </a:lnSpc>
              <a:spcBef>
                <a:spcPts val="0"/>
              </a:spcBef>
              <a:spcAft>
                <a:spcPts val="0"/>
              </a:spcAft>
              <a:buSzPts val="2800"/>
              <a:buNone/>
            </a:lvl5pPr>
            <a:lvl6pPr lvl="5" algn="l">
              <a:lnSpc>
                <a:spcPct val="100000"/>
              </a:lnSpc>
              <a:spcBef>
                <a:spcPts val="0"/>
              </a:spcBef>
              <a:spcAft>
                <a:spcPts val="0"/>
              </a:spcAft>
              <a:buSzPts val="2800"/>
              <a:buNone/>
            </a:lvl6pPr>
            <a:lvl7pPr lvl="6" algn="l">
              <a:lnSpc>
                <a:spcPct val="100000"/>
              </a:lnSpc>
              <a:spcBef>
                <a:spcPts val="0"/>
              </a:spcBef>
              <a:spcAft>
                <a:spcPts val="0"/>
              </a:spcAft>
              <a:buSzPts val="2800"/>
              <a:buNone/>
            </a:lvl7pPr>
            <a:lvl8pPr lvl="7" algn="l">
              <a:lnSpc>
                <a:spcPct val="100000"/>
              </a:lnSpc>
              <a:spcBef>
                <a:spcPts val="0"/>
              </a:spcBef>
              <a:spcAft>
                <a:spcPts val="0"/>
              </a:spcAft>
              <a:buSzPts val="2800"/>
              <a:buNone/>
            </a:lvl8pPr>
            <a:lvl9pPr lvl="8" algn="l">
              <a:lnSpc>
                <a:spcPct val="100000"/>
              </a:lnSpc>
              <a:spcBef>
                <a:spcPts val="0"/>
              </a:spcBef>
              <a:spcAft>
                <a:spcPts val="0"/>
              </a:spcAft>
              <a:buSzPts val="2800"/>
              <a:buNone/>
            </a:lvl9pPr>
          </a:lstStyle>
          <a:p>
            <a:endParaRPr/>
          </a:p>
        </p:txBody>
      </p:sp>
      <p:sp>
        <p:nvSpPr>
          <p:cNvPr id="1048592" name="Google Shape;13;p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Font typeface="Proxima Nova"/>
              <a:buChar char="●"/>
              <a:defRPr>
                <a:latin typeface="Proxima Nova"/>
                <a:ea typeface="Proxima Nova"/>
                <a:cs typeface="Proxima Nova"/>
                <a:sym typeface="Proxima Nova"/>
              </a:defRPr>
            </a:lvl1pPr>
            <a:lvl2pPr marL="1219170" lvl="1"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2pPr>
            <a:lvl3pPr marL="1828754" lvl="2"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3pPr>
            <a:lvl4pPr marL="2438339" lvl="3"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4pPr>
            <a:lvl5pPr marL="3047924" lvl="4"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5pPr>
            <a:lvl6pPr marL="3657509" lvl="5"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6pPr>
            <a:lvl7pPr marL="4267093" lvl="6"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7pPr>
            <a:lvl8pPr marL="4876678" lvl="7" indent="-423323" algn="l">
              <a:lnSpc>
                <a:spcPct val="115000"/>
              </a:lnSpc>
              <a:spcBef>
                <a:spcPts val="2133"/>
              </a:spcBef>
              <a:spcAft>
                <a:spcPts val="0"/>
              </a:spcAft>
              <a:buSzPts val="1400"/>
              <a:buFont typeface="Proxima Nova"/>
              <a:buChar char="○"/>
              <a:defRPr>
                <a:latin typeface="Proxima Nova"/>
                <a:ea typeface="Proxima Nova"/>
                <a:cs typeface="Proxima Nova"/>
                <a:sym typeface="Proxima Nova"/>
              </a:defRPr>
            </a:lvl8pPr>
            <a:lvl9pPr marL="5486263" lvl="8" indent="-423323" algn="l">
              <a:lnSpc>
                <a:spcPct val="115000"/>
              </a:lnSpc>
              <a:spcBef>
                <a:spcPts val="2133"/>
              </a:spcBef>
              <a:spcAft>
                <a:spcPts val="2133"/>
              </a:spcAft>
              <a:buSzPts val="1400"/>
              <a:buFont typeface="Proxima Nova"/>
              <a:buChar char="■"/>
              <a:defRPr>
                <a:latin typeface="Proxima Nova"/>
                <a:ea typeface="Proxima Nova"/>
                <a:cs typeface="Proxima Nova"/>
                <a:sym typeface="Proxima Nova"/>
              </a:defRPr>
            </a:lvl9pPr>
          </a:lstStyle>
          <a:p>
            <a:endParaRPr/>
          </a:p>
        </p:txBody>
      </p:sp>
      <p:sp>
        <p:nvSpPr>
          <p:cNvPr id="1048593" name="Google Shape;14;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0C8FEC-A394-409A-805A-A383E9165642}" type="datetime1">
              <a:rPr lang="en-IN" smtClean="0"/>
              <a:t>30-03-2026</a:t>
            </a:fld>
            <a:endParaRPr lang="en-IN" dirty="0"/>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D15B8C-3E3D-40B6-859E-6DE4B63CF92E}"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1048586" name="Google Shape;71;p13"/>
          <p:cNvSpPr txBox="1"/>
          <p:nvPr/>
        </p:nvSpPr>
        <p:spPr>
          <a:xfrm>
            <a:off x="698624" y="4460568"/>
            <a:ext cx="2998304" cy="1913600"/>
          </a:xfrm>
          <a:prstGeom prst="rect">
            <a:avLst/>
          </a:prstGeom>
          <a:noFill/>
          <a:ln>
            <a:noFill/>
          </a:ln>
        </p:spPr>
        <p:txBody>
          <a:bodyPr spcFirstLastPara="1" wrap="square" lIns="121900" tIns="121900" rIns="121900" bIns="121900" anchor="t" anchorCtr="0">
            <a:noAutofit/>
          </a:bodyPr>
          <a:lstStyle/>
          <a:p>
            <a:r>
              <a:rPr lang="de-DE" sz="2200" b="1" dirty="0">
                <a:latin typeface="Times New Roman" panose="02020603050405020304" pitchFamily="18" charset="0"/>
                <a:cs typeface="Times New Roman" panose="02020603050405020304" pitchFamily="18" charset="0"/>
              </a:rPr>
              <a:t>Team Members:    </a:t>
            </a:r>
          </a:p>
          <a:p>
            <a:r>
              <a:rPr lang="de-DE" sz="2200" b="1" dirty="0">
                <a:latin typeface="Times New Roman" panose="02020603050405020304" pitchFamily="18" charset="0"/>
                <a:cs typeface="Times New Roman" panose="02020603050405020304" pitchFamily="18" charset="0"/>
              </a:rPr>
              <a:t>                           </a:t>
            </a:r>
          </a:p>
          <a:p>
            <a:r>
              <a:rPr lang="de-DE" sz="2200" dirty="0">
                <a:latin typeface="Times New Roman" panose="02020603050405020304" pitchFamily="18" charset="0"/>
                <a:cs typeface="Times New Roman" panose="02020603050405020304" pitchFamily="18" charset="0"/>
              </a:rPr>
              <a:t>Harikanth R</a:t>
            </a:r>
          </a:p>
          <a:p>
            <a:r>
              <a:rPr lang="de-DE" sz="2200" dirty="0">
                <a:latin typeface="Times New Roman" panose="02020603050405020304" pitchFamily="18" charset="0"/>
                <a:cs typeface="Times New Roman" panose="02020603050405020304" pitchFamily="18" charset="0"/>
              </a:rPr>
              <a:t>Sabarinath A</a:t>
            </a:r>
          </a:p>
          <a:p>
            <a:r>
              <a:rPr lang="de-DE" sz="2200" dirty="0">
                <a:latin typeface="Times New Roman" panose="02020603050405020304" pitchFamily="18" charset="0"/>
                <a:cs typeface="Times New Roman" panose="02020603050405020304" pitchFamily="18" charset="0"/>
              </a:rPr>
              <a:t>Naveenkumar S</a:t>
            </a:r>
          </a:p>
          <a:p>
            <a:endParaRPr lang="de-DE" sz="2200" dirty="0">
              <a:latin typeface="Times New Roman" panose="02020603050405020304" pitchFamily="18" charset="0"/>
              <a:cs typeface="Times New Roman" panose="02020603050405020304" pitchFamily="18" charset="0"/>
            </a:endParaRPr>
          </a:p>
        </p:txBody>
      </p:sp>
      <p:sp>
        <p:nvSpPr>
          <p:cNvPr id="1048587" name="Title 2"/>
          <p:cNvSpPr>
            <a:spLocks noGrp="1"/>
          </p:cNvSpPr>
          <p:nvPr>
            <p:ph type="title"/>
          </p:nvPr>
        </p:nvSpPr>
        <p:spPr>
          <a:xfrm>
            <a:off x="2037522" y="2871391"/>
            <a:ext cx="8010940" cy="1103243"/>
          </a:xfrm>
        </p:spPr>
        <p:txBody>
          <a:bodyPr>
            <a:no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Diabetic Retinopathy Diagnosis and Classification using Vision Transformer</a:t>
            </a:r>
          </a:p>
        </p:txBody>
      </p:sp>
      <p:pic>
        <p:nvPicPr>
          <p:cNvPr id="2097152" name="Image 1"/>
          <p:cNvPicPr>
            <a:picLocks/>
          </p:cNvPicPr>
          <p:nvPr/>
        </p:nvPicPr>
        <p:blipFill>
          <a:blip r:embed="rId3">
            <a:extLst>
              <a:ext uri="{28A0092B-C50C-407E-A947-70E740481C1C}">
                <a14:useLocalDpi xmlns:a14="http://schemas.microsoft.com/office/drawing/2010/main" val="0"/>
              </a:ext>
            </a:extLst>
          </a:blip>
          <a:srcRect t="25929"/>
          <a:stretch>
            <a:fillRect/>
          </a:stretch>
        </p:blipFill>
        <p:spPr>
          <a:xfrm>
            <a:off x="1368159" y="483832"/>
            <a:ext cx="9753300" cy="1391901"/>
          </a:xfrm>
          <a:prstGeom prst="rect">
            <a:avLst/>
          </a:prstGeom>
        </p:spPr>
      </p:pic>
      <p:sp>
        <p:nvSpPr>
          <p:cNvPr id="1048588" name="Title 2"/>
          <p:cNvSpPr txBox="1"/>
          <p:nvPr/>
        </p:nvSpPr>
        <p:spPr>
          <a:xfrm>
            <a:off x="1215459" y="1910716"/>
            <a:ext cx="9906000" cy="72322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r>
              <a:rPr lang="en-IN" sz="2800" b="1" dirty="0">
                <a:solidFill>
                  <a:srgbClr val="7030A0"/>
                </a:solidFill>
                <a:latin typeface="Times New Roman" panose="02020603050405020304" pitchFamily="18" charset="0"/>
                <a:cs typeface="Times New Roman" panose="02020603050405020304" pitchFamily="18" charset="0"/>
              </a:rPr>
              <a:t>Department of Information Technology </a:t>
            </a:r>
          </a:p>
        </p:txBody>
      </p:sp>
      <p:sp>
        <p:nvSpPr>
          <p:cNvPr id="2" name="Google Shape;71;p13">
            <a:extLst>
              <a:ext uri="{FF2B5EF4-FFF2-40B4-BE49-F238E27FC236}">
                <a16:creationId xmlns:a16="http://schemas.microsoft.com/office/drawing/2014/main" id="{6F4BCB3A-4FC2-B745-1844-DBCF4E844684}"/>
              </a:ext>
            </a:extLst>
          </p:cNvPr>
          <p:cNvSpPr txBox="1"/>
          <p:nvPr/>
        </p:nvSpPr>
        <p:spPr>
          <a:xfrm>
            <a:off x="8573729" y="4460568"/>
            <a:ext cx="2998304" cy="1913600"/>
          </a:xfrm>
          <a:prstGeom prst="rect">
            <a:avLst/>
          </a:prstGeom>
          <a:noFill/>
          <a:ln>
            <a:noFill/>
          </a:ln>
        </p:spPr>
        <p:txBody>
          <a:bodyPr spcFirstLastPara="1" wrap="square" lIns="121900" tIns="121900" rIns="121900" bIns="121900" anchor="t" anchorCtr="0">
            <a:noAutofit/>
          </a:bodyPr>
          <a:lstStyle/>
          <a:p>
            <a:r>
              <a:rPr lang="de-DE" sz="2200" b="1" dirty="0">
                <a:latin typeface="Times New Roman" panose="02020603050405020304" pitchFamily="18" charset="0"/>
                <a:cs typeface="Times New Roman" panose="02020603050405020304" pitchFamily="18" charset="0"/>
              </a:rPr>
              <a:t>Under the Guidance of</a:t>
            </a:r>
          </a:p>
          <a:p>
            <a:r>
              <a:rPr lang="de-DE" sz="2200" dirty="0">
                <a:latin typeface="Times New Roman" panose="02020603050405020304" pitchFamily="18" charset="0"/>
                <a:cs typeface="Times New Roman" panose="02020603050405020304" pitchFamily="18" charset="0"/>
              </a:rPr>
              <a:t>        </a:t>
            </a:r>
          </a:p>
          <a:p>
            <a:r>
              <a:rPr lang="de-DE" sz="2200" dirty="0">
                <a:latin typeface="Times New Roman" panose="02020603050405020304" pitchFamily="18" charset="0"/>
                <a:cs typeface="Times New Roman" panose="02020603050405020304" pitchFamily="18" charset="0"/>
              </a:rPr>
              <a:t>         Mrs.C.Vanaja</a:t>
            </a:r>
          </a:p>
          <a:p>
            <a:r>
              <a:rPr lang="de-DE" sz="2200" dirty="0">
                <a:latin typeface="Times New Roman" panose="02020603050405020304" pitchFamily="18" charset="0"/>
                <a:cs typeface="Times New Roman" panose="02020603050405020304" pitchFamily="18" charset="0"/>
              </a:rPr>
              <a:t>     Assistant Professor</a:t>
            </a:r>
          </a:p>
          <a:p>
            <a:r>
              <a:rPr lang="de-DE" sz="2200" dirty="0">
                <a:latin typeface="Times New Roman" panose="02020603050405020304" pitchFamily="18" charset="0"/>
                <a:cs typeface="Times New Roman" panose="02020603050405020304" pitchFamily="18" charset="0"/>
              </a:rPr>
              <a:t> Information technology</a:t>
            </a:r>
          </a:p>
        </p:txBody>
      </p:sp>
      <p:sp>
        <p:nvSpPr>
          <p:cNvPr id="3" name="Slide Number Placeholder 2">
            <a:extLst>
              <a:ext uri="{FF2B5EF4-FFF2-40B4-BE49-F238E27FC236}">
                <a16:creationId xmlns:a16="http://schemas.microsoft.com/office/drawing/2014/main" id="{4EB24B60-E8A0-72A7-EDD5-3A8DE9737CE3}"/>
              </a:ext>
            </a:extLst>
          </p:cNvPr>
          <p:cNvSpPr>
            <a:spLocks noGrp="1"/>
          </p:cNvSpPr>
          <p:nvPr>
            <p:ph type="sldNum" sz="quarter" idx="12"/>
          </p:nvPr>
        </p:nvSpPr>
        <p:spPr/>
        <p:txBody>
          <a:bodyPr/>
          <a:lstStyle/>
          <a:p>
            <a:fld id="{BDD15B8C-3E3D-40B6-859E-6DE4B63CF92E}"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1048598" name="Google Shape;91;p16"/>
          <p:cNvSpPr txBox="1">
            <a:spLocks noGrp="1"/>
          </p:cNvSpPr>
          <p:nvPr>
            <p:ph type="title"/>
          </p:nvPr>
        </p:nvSpPr>
        <p:spPr>
          <a:xfrm>
            <a:off x="251051" y="343431"/>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Introduction</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56" name="Image 1"/>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4" name="Text Placeholder 3">
            <a:extLst>
              <a:ext uri="{FF2B5EF4-FFF2-40B4-BE49-F238E27FC236}">
                <a16:creationId xmlns:a16="http://schemas.microsoft.com/office/drawing/2014/main" id="{7A8BAF35-8E10-3812-843D-80B559E42D72}"/>
              </a:ext>
            </a:extLst>
          </p:cNvPr>
          <p:cNvSpPr>
            <a:spLocks noGrp="1"/>
          </p:cNvSpPr>
          <p:nvPr>
            <p:ph type="body" idx="1"/>
          </p:nvPr>
        </p:nvSpPr>
        <p:spPr>
          <a:xfrm>
            <a:off x="415600" y="1526123"/>
            <a:ext cx="11360800" cy="4555200"/>
          </a:xfrm>
        </p:spPr>
        <p:txBody>
          <a:bodyPr/>
          <a:lstStyle/>
          <a:p>
            <a:pPr algn="just"/>
            <a:r>
              <a:rPr lang="en-US" sz="2400" dirty="0">
                <a:latin typeface="Times New Roman" panose="02020603050405020304" pitchFamily="18" charset="0"/>
                <a:cs typeface="Times New Roman" panose="02020603050405020304" pitchFamily="18" charset="0"/>
              </a:rPr>
              <a:t>Diabetic Retinopathy (DR) is a serious eye disease caused by diabetes and a leading cause of vision loss worldwide. Early detection is crucial, but traditional diagnosis using fundus images is time-consuming, subjective, and dependent on expert analysis. Existing deep learning methods improve detection but still face challenges in efficiency and feature representation.</a:t>
            </a:r>
          </a:p>
          <a:p>
            <a:pPr algn="just"/>
            <a:r>
              <a:rPr lang="en-US" sz="2400" dirty="0">
                <a:latin typeface="Times New Roman" panose="02020603050405020304" pitchFamily="18" charset="0"/>
                <a:cs typeface="Times New Roman" panose="02020603050405020304" pitchFamily="18" charset="0"/>
              </a:rPr>
              <a:t>To overcome these limitations, this project uses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which captures both local and global features by analyzing images as patches. The system processes retinal images and performs multi-class classification to identify different DR severity levels. This enables faster, accurate, and more reliable diagnosis, supporting better clinical decision-making.</a:t>
            </a:r>
          </a:p>
        </p:txBody>
      </p:sp>
      <p:sp>
        <p:nvSpPr>
          <p:cNvPr id="2" name="Slide Number Placeholder 1">
            <a:extLst>
              <a:ext uri="{FF2B5EF4-FFF2-40B4-BE49-F238E27FC236}">
                <a16:creationId xmlns:a16="http://schemas.microsoft.com/office/drawing/2014/main" id="{50818A78-A1D5-AD4F-7315-E4766B7691BD}"/>
              </a:ext>
            </a:extLst>
          </p:cNvPr>
          <p:cNvSpPr>
            <a:spLocks noGrp="1"/>
          </p:cNvSpPr>
          <p:nvPr>
            <p:ph type="sldNum" idx="12"/>
          </p:nvPr>
        </p:nvSpPr>
        <p:spPr/>
        <p:txBody>
          <a:bodyPr/>
          <a:lstStyle/>
          <a:p>
            <a:fld id="{00000000-1234-1234-1234-123412341234}" type="slidenum">
              <a:rPr lang="en" smtClean="0"/>
              <a:t>2</a:t>
            </a:fld>
            <a:endParaRPr lang="en"/>
          </a:p>
        </p:txBody>
      </p:sp>
      <p:pic>
        <p:nvPicPr>
          <p:cNvPr id="7" name="Image 1">
            <a:extLst>
              <a:ext uri="{FF2B5EF4-FFF2-40B4-BE49-F238E27FC236}">
                <a16:creationId xmlns:a16="http://schemas.microsoft.com/office/drawing/2014/main" id="{004DF1CC-1382-35EA-67D5-3557D0960D31}"/>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0918371" y="209193"/>
            <a:ext cx="1022578" cy="8615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1048602" name="Google Shape;91;p16"/>
          <p:cNvSpPr txBox="1">
            <a:spLocks noGrp="1"/>
          </p:cNvSpPr>
          <p:nvPr>
            <p:ph type="title"/>
          </p:nvPr>
        </p:nvSpPr>
        <p:spPr>
          <a:xfrm>
            <a:off x="415600" y="694967"/>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DOMAIN – ARTIFICIAL INTELLIGENCE</a:t>
            </a:r>
            <a:endParaRPr lang="en-IN" sz="3600" b="1" dirty="0">
              <a:solidFill>
                <a:srgbClr val="FF0000"/>
              </a:solidFill>
            </a:endParaRPr>
          </a:p>
        </p:txBody>
      </p:sp>
      <p:pic>
        <p:nvPicPr>
          <p:cNvPr id="2097158" name="Image 1"/>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3" name="Google Shape;86;p15">
            <a:extLst>
              <a:ext uri="{FF2B5EF4-FFF2-40B4-BE49-F238E27FC236}">
                <a16:creationId xmlns:a16="http://schemas.microsoft.com/office/drawing/2014/main" id="{031206CF-86AC-7C94-2B74-41E612001905}"/>
              </a:ext>
            </a:extLst>
          </p:cNvPr>
          <p:cNvSpPr txBox="1">
            <a:spLocks noGrp="1"/>
          </p:cNvSpPr>
          <p:nvPr>
            <p:ph type="body" idx="1"/>
          </p:nvPr>
        </p:nvSpPr>
        <p:spPr>
          <a:xfrm>
            <a:off x="415925" y="1458567"/>
            <a:ext cx="11360150" cy="5035896"/>
          </a:xfrm>
          <a:prstGeom prst="rect">
            <a:avLst/>
          </a:prstGeom>
          <a:noFill/>
          <a:ln>
            <a:noFill/>
          </a:ln>
        </p:spPr>
        <p:txBody>
          <a:bodyPr spcFirstLastPara="1" vert="horz" wrap="square" lIns="121900" tIns="121900" rIns="121900" bIns="121900" rtlCol="0" anchor="t" anchorCtr="0">
            <a:noAutofit/>
          </a:bodyPr>
          <a:lstStyle/>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Artificial Intelligence </a:t>
            </a:r>
            <a:r>
              <a:rPr lang="en-US" dirty="0">
                <a:latin typeface="Times New Roman" panose="02020603050405020304" pitchFamily="18" charset="0"/>
                <a:cs typeface="Times New Roman" panose="02020603050405020304" pitchFamily="18" charset="0"/>
              </a:rPr>
              <a:t>(AI) is a vast field focused on creating machines that can perform tasks that typically require human intelligence.</a:t>
            </a:r>
          </a:p>
          <a:p>
            <a:pPr marL="152396" indent="0" algn="just">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AI systems learn and improve through exposure to vast amounts of data, identifying patterns and relationships that humans may miss.</a:t>
            </a:r>
          </a:p>
          <a:p>
            <a:pPr marL="152396" indent="0" algn="just">
              <a:buNone/>
            </a:pP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learning process often involves algorithms, which are sets of rules or instructions that guide the AI's analysis and decision-making.</a:t>
            </a:r>
            <a:endParaRPr lang="en-IN" dirty="0">
              <a:latin typeface="Times New Roman" panose="02020603050405020304" pitchFamily="18" charset="0"/>
              <a:cs typeface="Times New Roman" panose="02020603050405020304" pitchFamily="18" charset="0"/>
            </a:endParaRPr>
          </a:p>
          <a:p>
            <a:pPr algn="just">
              <a:buClr>
                <a:schemeClr val="lt1"/>
              </a:buCl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B78291D8-1027-A0B5-BC31-6615445FDB60}"/>
              </a:ext>
            </a:extLst>
          </p:cNvPr>
          <p:cNvSpPr>
            <a:spLocks noGrp="1"/>
          </p:cNvSpPr>
          <p:nvPr>
            <p:ph type="sldNum" idx="12"/>
          </p:nvPr>
        </p:nvSpPr>
        <p:spPr/>
        <p:txBody>
          <a:bodyPr/>
          <a:lstStyle/>
          <a:p>
            <a:fld id="{00000000-1234-1234-1234-123412341234}" type="slidenum">
              <a:rPr lang="en" smtClean="0"/>
              <a:t>3</a:t>
            </a:fld>
            <a:endParaRPr lang="en"/>
          </a:p>
        </p:txBody>
      </p:sp>
      <p:pic>
        <p:nvPicPr>
          <p:cNvPr id="4" name="Image 1">
            <a:extLst>
              <a:ext uri="{FF2B5EF4-FFF2-40B4-BE49-F238E27FC236}">
                <a16:creationId xmlns:a16="http://schemas.microsoft.com/office/drawing/2014/main" id="{638563E7-091E-3E80-CC01-58707E78EE46}"/>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0918371" y="209193"/>
            <a:ext cx="1022578" cy="8615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8FCFF715-99C4-397A-7981-E9235AECFC7F}"/>
            </a:ext>
          </a:extLst>
        </p:cNvPr>
        <p:cNvGrpSpPr/>
        <p:nvPr/>
      </p:nvGrpSpPr>
      <p:grpSpPr>
        <a:xfrm>
          <a:off x="0" y="0"/>
          <a:ext cx="0" cy="0"/>
          <a:chOff x="0" y="0"/>
          <a:chExt cx="0" cy="0"/>
        </a:xfrm>
      </p:grpSpPr>
      <p:pic>
        <p:nvPicPr>
          <p:cNvPr id="2097158" name="Image 1">
            <a:extLst>
              <a:ext uri="{FF2B5EF4-FFF2-40B4-BE49-F238E27FC236}">
                <a16:creationId xmlns:a16="http://schemas.microsoft.com/office/drawing/2014/main" id="{1F3C5AB2-AC86-3F16-592C-E805BDA68E47}"/>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10" name="Google Shape;86;p15">
            <a:extLst>
              <a:ext uri="{FF2B5EF4-FFF2-40B4-BE49-F238E27FC236}">
                <a16:creationId xmlns:a16="http://schemas.microsoft.com/office/drawing/2014/main" id="{B9BC93C8-EE4E-6EE3-5A15-C48EA9C845D3}"/>
              </a:ext>
            </a:extLst>
          </p:cNvPr>
          <p:cNvSpPr txBox="1">
            <a:spLocks noGrp="1"/>
          </p:cNvSpPr>
          <p:nvPr>
            <p:ph type="body" idx="1"/>
          </p:nvPr>
        </p:nvSpPr>
        <p:spPr>
          <a:xfrm>
            <a:off x="415600" y="1262269"/>
            <a:ext cx="11360800" cy="5119599"/>
          </a:xfrm>
          <a:prstGeom prst="rect">
            <a:avLst/>
          </a:prstGeom>
          <a:noFill/>
          <a:ln>
            <a:noFill/>
          </a:ln>
        </p:spPr>
        <p:txBody>
          <a:bodyPr spcFirstLastPara="1" vert="horz" wrap="square" lIns="121900" tIns="121900" rIns="121900" bIns="121900" rtlCol="0" anchor="t" anchorCtr="0">
            <a:noAutofit/>
          </a:bodyPr>
          <a:lstStyle/>
          <a:p>
            <a:pPr algn="just">
              <a:buSzPct val="750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Deep Learning</a:t>
            </a:r>
            <a:r>
              <a:rPr lang="en-US" sz="2400" dirty="0">
                <a:latin typeface="Times New Roman" panose="02020603050405020304" pitchFamily="18" charset="0"/>
                <a:cs typeface="Times New Roman" panose="02020603050405020304" pitchFamily="18" charset="0"/>
              </a:rPr>
              <a:t>, a further specialization, utilizes artificial neural networks with multiple layers to process information, mimicking the structure and function of the human brain. </a:t>
            </a:r>
          </a:p>
          <a:p>
            <a:pPr algn="just">
              <a:buSzPct val="750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buSzPct val="750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CNN (Convolutional Neural Network):</a:t>
            </a:r>
            <a:r>
              <a:rPr lang="en-US" sz="2400" dirty="0">
                <a:latin typeface="Times New Roman" panose="02020603050405020304" pitchFamily="18" charset="0"/>
                <a:cs typeface="Times New Roman" panose="02020603050405020304" pitchFamily="18" charset="0"/>
              </a:rPr>
              <a:t>A deep learning model designed to automatically extract local features from images using convolutional layers, widely used in image classification and detection tasks.</a:t>
            </a:r>
          </a:p>
          <a:p>
            <a:pPr marL="152396" indent="0" algn="just">
              <a:buSzPct val="75000"/>
              <a:buNone/>
            </a:pPr>
            <a:endParaRPr lang="en-US" sz="2400" dirty="0">
              <a:latin typeface="Times New Roman" panose="02020603050405020304" pitchFamily="18" charset="0"/>
              <a:cs typeface="Times New Roman" panose="02020603050405020304" pitchFamily="18" charset="0"/>
            </a:endParaRPr>
          </a:p>
          <a:p>
            <a:pPr algn="just">
              <a:buSzPct val="750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ViT</a:t>
            </a:r>
            <a:r>
              <a:rPr lang="en-US" sz="2400" b="1" dirty="0">
                <a:latin typeface="Times New Roman" panose="02020603050405020304" pitchFamily="18" charset="0"/>
                <a:cs typeface="Times New Roman" panose="02020603050405020304" pitchFamily="18" charset="0"/>
              </a:rPr>
              <a:t> (Vision Transformer):</a:t>
            </a:r>
            <a:r>
              <a:rPr lang="en-US" sz="2400" dirty="0">
                <a:latin typeface="Times New Roman" panose="02020603050405020304" pitchFamily="18" charset="0"/>
                <a:cs typeface="Times New Roman" panose="02020603050405020304" pitchFamily="18" charset="0"/>
              </a:rPr>
              <a:t> A deep learning model that uses self-attention mechanisms to capture global image relationships, offering better scalability and interpretability than CNNs, especially with large datasets.</a:t>
            </a:r>
          </a:p>
          <a:p>
            <a:pPr algn="just">
              <a:buSzPct val="750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buSzPct val="750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2BF29EE-C979-AA3D-73CF-2094722CC05A}"/>
              </a:ext>
            </a:extLst>
          </p:cNvPr>
          <p:cNvSpPr>
            <a:spLocks noGrp="1"/>
          </p:cNvSpPr>
          <p:nvPr>
            <p:ph type="sldNum" idx="12"/>
          </p:nvPr>
        </p:nvSpPr>
        <p:spPr/>
        <p:txBody>
          <a:bodyPr/>
          <a:lstStyle/>
          <a:p>
            <a:fld id="{00000000-1234-1234-1234-123412341234}" type="slidenum">
              <a:rPr lang="en" smtClean="0"/>
              <a:t>4</a:t>
            </a:fld>
            <a:endParaRPr lang="en"/>
          </a:p>
        </p:txBody>
      </p:sp>
      <p:pic>
        <p:nvPicPr>
          <p:cNvPr id="3" name="Image 1">
            <a:extLst>
              <a:ext uri="{FF2B5EF4-FFF2-40B4-BE49-F238E27FC236}">
                <a16:creationId xmlns:a16="http://schemas.microsoft.com/office/drawing/2014/main" id="{7C2A7F85-7844-B6EA-09D4-6AF1C417F460}"/>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0918371" y="209193"/>
            <a:ext cx="1022578" cy="861572"/>
          </a:xfrm>
          <a:prstGeom prst="rect">
            <a:avLst/>
          </a:prstGeom>
        </p:spPr>
      </p:pic>
    </p:spTree>
    <p:extLst>
      <p:ext uri="{BB962C8B-B14F-4D97-AF65-F5344CB8AC3E}">
        <p14:creationId xmlns:p14="http://schemas.microsoft.com/office/powerpoint/2010/main" val="44869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C30B7661-B488-1847-34F0-2817280559CD}"/>
            </a:ext>
          </a:extLst>
        </p:cNvPr>
        <p:cNvGrpSpPr/>
        <p:nvPr/>
      </p:nvGrpSpPr>
      <p:grpSpPr>
        <a:xfrm>
          <a:off x="0" y="0"/>
          <a:ext cx="0" cy="0"/>
          <a:chOff x="0" y="0"/>
          <a:chExt cx="0" cy="0"/>
        </a:xfrm>
      </p:grpSpPr>
      <p:sp>
        <p:nvSpPr>
          <p:cNvPr id="1048598" name="Google Shape;91;p16">
            <a:extLst>
              <a:ext uri="{FF2B5EF4-FFF2-40B4-BE49-F238E27FC236}">
                <a16:creationId xmlns:a16="http://schemas.microsoft.com/office/drawing/2014/main" id="{ED1DE4BA-9CCB-DCF9-C1E2-E9DDF07FEDB9}"/>
              </a:ext>
            </a:extLst>
          </p:cNvPr>
          <p:cNvSpPr txBox="1">
            <a:spLocks noGrp="1"/>
          </p:cNvSpPr>
          <p:nvPr>
            <p:ph type="title"/>
          </p:nvPr>
        </p:nvSpPr>
        <p:spPr>
          <a:xfrm>
            <a:off x="251051" y="343431"/>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Problem statement</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56" name="Image 1">
            <a:extLst>
              <a:ext uri="{FF2B5EF4-FFF2-40B4-BE49-F238E27FC236}">
                <a16:creationId xmlns:a16="http://schemas.microsoft.com/office/drawing/2014/main" id="{FDDB9ABE-201F-B809-E9D8-D6AC302E1339}"/>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Google Shape;86;p15">
            <a:extLst>
              <a:ext uri="{FF2B5EF4-FFF2-40B4-BE49-F238E27FC236}">
                <a16:creationId xmlns:a16="http://schemas.microsoft.com/office/drawing/2014/main" id="{5299E5DB-5E45-F49B-9BA9-80C3A8B414FB}"/>
              </a:ext>
            </a:extLst>
          </p:cNvPr>
          <p:cNvSpPr txBox="1">
            <a:spLocks noGrp="1"/>
          </p:cNvSpPr>
          <p:nvPr>
            <p:ph type="body" idx="1"/>
          </p:nvPr>
        </p:nvSpPr>
        <p:spPr>
          <a:xfrm>
            <a:off x="415600" y="1416361"/>
            <a:ext cx="11360800" cy="4846274"/>
          </a:xfrm>
          <a:prstGeom prst="rect">
            <a:avLst/>
          </a:prstGeom>
          <a:noFill/>
          <a:ln>
            <a:noFill/>
          </a:ln>
        </p:spPr>
        <p:txBody>
          <a:bodyPr spcFirstLastPara="1" vert="horz" wrap="square" lIns="121900" tIns="121900" rIns="121900" bIns="121900" rtlCol="0" anchor="t" anchorCtr="0">
            <a:noAutofit/>
          </a:bodyPr>
          <a:lstStyle/>
          <a:p>
            <a:pPr algn="just"/>
            <a:r>
              <a:rPr lang="en-US" sz="2400" dirty="0">
                <a:latin typeface="Times New Roman" panose="02020603050405020304" pitchFamily="18" charset="0"/>
                <a:cs typeface="Times New Roman" panose="02020603050405020304" pitchFamily="18" charset="0"/>
              </a:rPr>
              <a:t>Diabetic Retinopathy (DR) is a leading cause of vision loss, and early detection is crucial for timely treatment and prevention of blindness. Existing machine learning and deep learning approaches have improved diagnosis, but they often lack interpretability and fail to capture complex patterns in retinal images. Additionally, many models are limited in their ability to represent both local and global features effectively.</a:t>
            </a:r>
          </a:p>
          <a:p>
            <a:pPr algn="just"/>
            <a:r>
              <a:rPr lang="en-US" sz="2400" dirty="0">
                <a:latin typeface="Times New Roman" panose="02020603050405020304" pitchFamily="18" charset="0"/>
                <a:cs typeface="Times New Roman" panose="02020603050405020304" pitchFamily="18" charset="0"/>
              </a:rPr>
              <a:t>Most traditional systems focus on binary or single-stage classification, which is insufficient for identifying multiple severity levels of DR. This limitation reduces their clinical usefulness in real-world diagnosis and treatment planning. Therefore, there is a need for an advanced, explainable, and efficient model that supports multi-class classification and provides better insights into the decision-making process.</a:t>
            </a:r>
          </a:p>
        </p:txBody>
      </p:sp>
      <p:sp>
        <p:nvSpPr>
          <p:cNvPr id="3" name="Slide Number Placeholder 2">
            <a:extLst>
              <a:ext uri="{FF2B5EF4-FFF2-40B4-BE49-F238E27FC236}">
                <a16:creationId xmlns:a16="http://schemas.microsoft.com/office/drawing/2014/main" id="{AA5A91A1-F7EB-785E-BEFA-F0A8847AA6C7}"/>
              </a:ext>
            </a:extLst>
          </p:cNvPr>
          <p:cNvSpPr>
            <a:spLocks noGrp="1"/>
          </p:cNvSpPr>
          <p:nvPr>
            <p:ph type="sldNum" idx="12"/>
          </p:nvPr>
        </p:nvSpPr>
        <p:spPr/>
        <p:txBody>
          <a:bodyPr/>
          <a:lstStyle/>
          <a:p>
            <a:fld id="{00000000-1234-1234-1234-123412341234}" type="slidenum">
              <a:rPr lang="en" smtClean="0"/>
              <a:t>5</a:t>
            </a:fld>
            <a:endParaRPr lang="en"/>
          </a:p>
        </p:txBody>
      </p:sp>
      <p:pic>
        <p:nvPicPr>
          <p:cNvPr id="4" name="Image 1">
            <a:extLst>
              <a:ext uri="{FF2B5EF4-FFF2-40B4-BE49-F238E27FC236}">
                <a16:creationId xmlns:a16="http://schemas.microsoft.com/office/drawing/2014/main" id="{DA28F540-D854-98BA-03CF-3EA964A87974}"/>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0918371" y="188173"/>
            <a:ext cx="1022578" cy="861572"/>
          </a:xfrm>
          <a:prstGeom prst="rect">
            <a:avLst/>
          </a:prstGeom>
        </p:spPr>
      </p:pic>
    </p:spTree>
    <p:extLst>
      <p:ext uri="{BB962C8B-B14F-4D97-AF65-F5344CB8AC3E}">
        <p14:creationId xmlns:p14="http://schemas.microsoft.com/office/powerpoint/2010/main" val="956177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F5A51-CB9B-7EE7-D234-BE131B216A2A}"/>
              </a:ext>
            </a:extLst>
          </p:cNvPr>
          <p:cNvSpPr>
            <a:spLocks noGrp="1"/>
          </p:cNvSpPr>
          <p:nvPr>
            <p:ph type="title"/>
          </p:nvPr>
        </p:nvSpPr>
        <p:spPr>
          <a:xfrm>
            <a:off x="257499" y="828431"/>
            <a:ext cx="10058400" cy="625736"/>
          </a:xfrm>
        </p:spPr>
        <p:txBody>
          <a:bodyPr>
            <a:normAutofit/>
          </a:bodyPr>
          <a:lstStyle/>
          <a:p>
            <a:r>
              <a:rPr lang="en-US" sz="2400" b="1" dirty="0">
                <a:solidFill>
                  <a:schemeClr val="accent1"/>
                </a:solidFill>
                <a:latin typeface="Times New Roman" panose="02020603050405020304" pitchFamily="18" charset="0"/>
                <a:cs typeface="Times New Roman" panose="02020603050405020304" pitchFamily="18" charset="0"/>
              </a:rPr>
              <a:t>LITERATURE SURVEY</a:t>
            </a:r>
            <a:endParaRPr lang="en-IN" sz="2400" b="1" dirty="0">
              <a:solidFill>
                <a:schemeClr val="accent1"/>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704494F3-6EF5-2820-FD60-60E3D0DEBC90}"/>
              </a:ext>
            </a:extLst>
          </p:cNvPr>
          <p:cNvGraphicFramePr>
            <a:graphicFrameLocks noGrp="1"/>
          </p:cNvGraphicFramePr>
          <p:nvPr>
            <p:extLst>
              <p:ext uri="{D42A27DB-BD31-4B8C-83A1-F6EECF244321}">
                <p14:modId xmlns:p14="http://schemas.microsoft.com/office/powerpoint/2010/main" val="4258999834"/>
              </p:ext>
            </p:extLst>
          </p:nvPr>
        </p:nvGraphicFramePr>
        <p:xfrm>
          <a:off x="254663" y="1454167"/>
          <a:ext cx="11620202" cy="4865502"/>
        </p:xfrm>
        <a:graphic>
          <a:graphicData uri="http://schemas.openxmlformats.org/drawingml/2006/table">
            <a:tbl>
              <a:tblPr firstRow="1" bandRow="1">
                <a:tableStyleId>{5C22544A-7EE6-4342-B048-85BDC9FD1C3A}</a:tableStyleId>
              </a:tblPr>
              <a:tblGrid>
                <a:gridCol w="782766">
                  <a:extLst>
                    <a:ext uri="{9D8B030D-6E8A-4147-A177-3AD203B41FA5}">
                      <a16:colId xmlns:a16="http://schemas.microsoft.com/office/drawing/2014/main" val="3053307453"/>
                    </a:ext>
                  </a:extLst>
                </a:gridCol>
                <a:gridCol w="2407474">
                  <a:extLst>
                    <a:ext uri="{9D8B030D-6E8A-4147-A177-3AD203B41FA5}">
                      <a16:colId xmlns:a16="http://schemas.microsoft.com/office/drawing/2014/main" val="1375844977"/>
                    </a:ext>
                  </a:extLst>
                </a:gridCol>
                <a:gridCol w="1802958">
                  <a:extLst>
                    <a:ext uri="{9D8B030D-6E8A-4147-A177-3AD203B41FA5}">
                      <a16:colId xmlns:a16="http://schemas.microsoft.com/office/drawing/2014/main" val="3479207973"/>
                    </a:ext>
                  </a:extLst>
                </a:gridCol>
                <a:gridCol w="1249074">
                  <a:extLst>
                    <a:ext uri="{9D8B030D-6E8A-4147-A177-3AD203B41FA5}">
                      <a16:colId xmlns:a16="http://schemas.microsoft.com/office/drawing/2014/main" val="1040301832"/>
                    </a:ext>
                  </a:extLst>
                </a:gridCol>
                <a:gridCol w="1763808">
                  <a:extLst>
                    <a:ext uri="{9D8B030D-6E8A-4147-A177-3AD203B41FA5}">
                      <a16:colId xmlns:a16="http://schemas.microsoft.com/office/drawing/2014/main" val="538056310"/>
                    </a:ext>
                  </a:extLst>
                </a:gridCol>
                <a:gridCol w="1797657">
                  <a:extLst>
                    <a:ext uri="{9D8B030D-6E8A-4147-A177-3AD203B41FA5}">
                      <a16:colId xmlns:a16="http://schemas.microsoft.com/office/drawing/2014/main" val="3945838814"/>
                    </a:ext>
                  </a:extLst>
                </a:gridCol>
                <a:gridCol w="1816465">
                  <a:extLst>
                    <a:ext uri="{9D8B030D-6E8A-4147-A177-3AD203B41FA5}">
                      <a16:colId xmlns:a16="http://schemas.microsoft.com/office/drawing/2014/main" val="738871863"/>
                    </a:ext>
                  </a:extLst>
                </a:gridCol>
              </a:tblGrid>
              <a:tr h="527318">
                <a:tc>
                  <a:txBody>
                    <a:bodyPr/>
                    <a:lstStyle/>
                    <a:p>
                      <a:pPr algn="just"/>
                      <a:r>
                        <a:rPr lang="en-US" sz="1600" dirty="0">
                          <a:latin typeface="Times New Roman" panose="02020603050405020304" pitchFamily="18" charset="0"/>
                          <a:cs typeface="Times New Roman" panose="02020603050405020304" pitchFamily="18" charset="0"/>
                        </a:rPr>
                        <a:t>SI.NO</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METHODS USED</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ADVANTAGE </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DISADVANTAGE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9418761"/>
                  </a:ext>
                </a:extLst>
              </a:tr>
              <a:tr h="1197785">
                <a:tc>
                  <a:txBody>
                    <a:bodyPr/>
                    <a:lstStyle/>
                    <a:p>
                      <a:pPr algn="just"/>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just">
                        <a:buNone/>
                      </a:pPr>
                      <a:r>
                        <a:rPr lang="en-US" sz="1600" b="1" dirty="0">
                          <a:latin typeface="Times New Roman" panose="02020603050405020304" pitchFamily="18" charset="0"/>
                          <a:cs typeface="Times New Roman" panose="02020603050405020304" pitchFamily="18" charset="0"/>
                        </a:rPr>
                        <a:t>Developing a Transparent Diagnosis Model for Diabetic Retinopathy Using Explainable AI</a:t>
                      </a:r>
                      <a:endParaRPr lang="en-US" sz="1600" b="1"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Tariq Shahzad et al.</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2024</a:t>
                      </a:r>
                    </a:p>
                    <a:p>
                      <a:pPr algn="just"/>
                      <a:endParaRPr lang="en-IN" sz="16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CNN, Explainable AI (XAI)</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Improved interpretability and accuracy</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Complex symptom handling, model opacity previously</a:t>
                      </a:r>
                      <a:endParaRPr lang="en-IN" sz="1600" b="1"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65708125"/>
                  </a:ext>
                </a:extLst>
              </a:tr>
              <a:tr h="1716997">
                <a:tc>
                  <a:txBody>
                    <a:bodyPr/>
                    <a:lstStyle/>
                    <a:p>
                      <a:pPr algn="just"/>
                      <a:r>
                        <a:rPr lang="en-US" sz="1600" dirty="0">
                          <a:latin typeface="Times New Roman" panose="02020603050405020304" pitchFamily="18" charset="0"/>
                          <a:cs typeface="Times New Roman" panose="02020603050405020304" pitchFamily="18" charset="0"/>
                        </a:rPr>
                        <a:t>2.</a:t>
                      </a:r>
                    </a:p>
                    <a:p>
                      <a:pPr algn="just"/>
                      <a:endParaRPr lang="en-IN" sz="1600" dirty="0">
                        <a:latin typeface="Times New Roman" panose="02020603050405020304" pitchFamily="18" charset="0"/>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Advancing diabetic retinopathy diagnosis with fundus imaging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S. Prathibha, </a:t>
                      </a:r>
                      <a:r>
                        <a:rPr lang="en-IN" sz="1600" dirty="0" err="1">
                          <a:latin typeface="Times New Roman" panose="02020603050405020304" pitchFamily="18" charset="0"/>
                          <a:cs typeface="Times New Roman" panose="02020603050405020304" pitchFamily="18" charset="0"/>
                        </a:rPr>
                        <a:t>Siddappaji</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2024</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Deep Learning, Ensemble Learning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Holistic CAD solution, multi-trait analysis</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r>
                        <a:rPr lang="en-US" sz="1600" dirty="0">
                          <a:latin typeface="Times New Roman" panose="02020603050405020304" pitchFamily="18" charset="0"/>
                          <a:cs typeface="Times New Roman" panose="02020603050405020304" pitchFamily="18" charset="0"/>
                        </a:rPr>
                        <a:t>Limited generalizability, multiple CAD stages needed</a:t>
                      </a:r>
                      <a:r>
                        <a:rPr lang="en-US" sz="1600" kern="1200" dirty="0">
                          <a:solidFill>
                            <a:schemeClr val="dk1"/>
                          </a:solidFill>
                          <a:latin typeface="Times New Roman" panose="02020603050405020304" pitchFamily="18" charset="0"/>
                          <a:ea typeface="+mn-ea"/>
                          <a:cs typeface="Times New Roman" panose="02020603050405020304" pitchFamily="18" charset="0"/>
                        </a:rPr>
                        <a:t>.</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516870274"/>
                  </a:ext>
                </a:extLst>
              </a:tr>
              <a:tr h="1285873">
                <a:tc>
                  <a:txBody>
                    <a:bodyPr/>
                    <a:lstStyle/>
                    <a:p>
                      <a:pPr algn="just"/>
                      <a:r>
                        <a:rPr lang="en-US" sz="1600" dirty="0">
                          <a:latin typeface="Times New Roman" panose="02020603050405020304" pitchFamily="18" charset="0"/>
                          <a:cs typeface="Times New Roman" panose="02020603050405020304" pitchFamily="18" charset="0"/>
                        </a:rPr>
                        <a:t>3.</a:t>
                      </a:r>
                    </a:p>
                  </a:txBody>
                  <a:tcPr anchor="ctr"/>
                </a:tc>
                <a:tc>
                  <a:txBody>
                    <a:bodyPr/>
                    <a:lstStyle/>
                    <a:p>
                      <a:pPr algn="just">
                        <a:lnSpc>
                          <a:spcPct val="100000"/>
                        </a:lnSpc>
                        <a:buNone/>
                      </a:pPr>
                      <a:r>
                        <a:rPr lang="en-US" sz="1600" dirty="0">
                          <a:latin typeface="Times New Roman" panose="02020603050405020304" pitchFamily="18" charset="0"/>
                          <a:cs typeface="Times New Roman" panose="02020603050405020304" pitchFamily="18" charset="0"/>
                        </a:rPr>
                        <a:t>Application of AI for Classification, Segmentation, Early Detection, Early Diagnosis, and Grading of DR</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r>
                        <a:rPr lang="fi-FI" sz="1600" dirty="0">
                          <a:latin typeface="Times New Roman" panose="02020603050405020304" pitchFamily="18" charset="0"/>
                          <a:cs typeface="Times New Roman" panose="02020603050405020304" pitchFamily="18" charset="0"/>
                        </a:rPr>
                        <a:t>G. Rajarajeshwari, G. Chemmalar Selvi</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2024</a:t>
                      </a:r>
                    </a:p>
                  </a:txBody>
                  <a:tcPr anchor="ctr"/>
                </a:tc>
                <a:tc>
                  <a:txBody>
                    <a:bodyPr/>
                    <a:lstStyle/>
                    <a:p>
                      <a:pPr algn="just"/>
                      <a:r>
                        <a:rPr lang="en-US" sz="1600" dirty="0">
                          <a:latin typeface="Times New Roman" panose="02020603050405020304" pitchFamily="18" charset="0"/>
                          <a:cs typeface="Times New Roman" panose="02020603050405020304" pitchFamily="18" charset="0"/>
                        </a:rPr>
                        <a:t>ML, DL, XAI, Transfer Learning</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dirty="0">
                          <a:latin typeface="Times New Roman" panose="02020603050405020304" pitchFamily="18" charset="0"/>
                          <a:cs typeface="Times New Roman" panose="02020603050405020304" pitchFamily="18" charset="0"/>
                        </a:rPr>
                        <a:t>Covers full DR pipeline, XAI support</a:t>
                      </a:r>
                      <a:br>
                        <a:rPr lang="en-US" sz="1600" kern="1200" dirty="0">
                          <a:solidFill>
                            <a:schemeClr val="dk1"/>
                          </a:solidFill>
                          <a:latin typeface="Times New Roman" panose="02020603050405020304" pitchFamily="18" charset="0"/>
                          <a:ea typeface="+mn-ea"/>
                          <a:cs typeface="Times New Roman" panose="02020603050405020304" pitchFamily="18" charset="0"/>
                        </a:rPr>
                      </a:b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Challenges in input modality and fusion</a:t>
                      </a:r>
                      <a:r>
                        <a:rPr lang="en-US" sz="1600" kern="1200" dirty="0">
                          <a:solidFill>
                            <a:schemeClr val="dk1"/>
                          </a:solidFill>
                          <a:latin typeface="Times New Roman" panose="02020603050405020304" pitchFamily="18" charset="0"/>
                          <a:ea typeface="+mn-ea"/>
                          <a:cs typeface="Times New Roman" panose="02020603050405020304" pitchFamily="18" charset="0"/>
                        </a:rPr>
                        <a:t>.</a:t>
                      </a:r>
                    </a:p>
                  </a:txBody>
                  <a:tcPr anchor="ctr"/>
                </a:tc>
                <a:extLst>
                  <a:ext uri="{0D108BD9-81ED-4DB2-BD59-A6C34878D82A}">
                    <a16:rowId xmlns:a16="http://schemas.microsoft.com/office/drawing/2014/main" val="304846126"/>
                  </a:ext>
                </a:extLst>
              </a:tr>
            </a:tbl>
          </a:graphicData>
        </a:graphic>
      </p:graphicFrame>
      <p:pic>
        <p:nvPicPr>
          <p:cNvPr id="9" name="Picture 8">
            <a:extLst>
              <a:ext uri="{FF2B5EF4-FFF2-40B4-BE49-F238E27FC236}">
                <a16:creationId xmlns:a16="http://schemas.microsoft.com/office/drawing/2014/main" id="{76E913B2-D044-4DC9-00D2-9C4967A862AD}"/>
              </a:ext>
            </a:extLst>
          </p:cNvPr>
          <p:cNvPicPr>
            <a:picLocks noChangeAspect="1"/>
          </p:cNvPicPr>
          <p:nvPr/>
        </p:nvPicPr>
        <p:blipFill>
          <a:blip r:embed="rId2"/>
          <a:stretch>
            <a:fillRect/>
          </a:stretch>
        </p:blipFill>
        <p:spPr>
          <a:xfrm>
            <a:off x="254663" y="104542"/>
            <a:ext cx="736147" cy="695250"/>
          </a:xfrm>
          <a:prstGeom prst="rect">
            <a:avLst/>
          </a:prstGeom>
        </p:spPr>
      </p:pic>
      <p:sp>
        <p:nvSpPr>
          <p:cNvPr id="6" name="Slide Number Placeholder 5">
            <a:extLst>
              <a:ext uri="{FF2B5EF4-FFF2-40B4-BE49-F238E27FC236}">
                <a16:creationId xmlns:a16="http://schemas.microsoft.com/office/drawing/2014/main" id="{19798D9C-0BCC-5FB1-4614-637A82AE76B4}"/>
              </a:ext>
            </a:extLst>
          </p:cNvPr>
          <p:cNvSpPr>
            <a:spLocks noGrp="1"/>
          </p:cNvSpPr>
          <p:nvPr>
            <p:ph type="sldNum" sz="quarter" idx="12"/>
          </p:nvPr>
        </p:nvSpPr>
        <p:spPr/>
        <p:txBody>
          <a:bodyPr/>
          <a:lstStyle/>
          <a:p>
            <a:fld id="{BDD15B8C-3E3D-40B6-859E-6DE4B63CF92E}" type="slidenum">
              <a:rPr lang="en-IN" smtClean="0"/>
              <a:t>6</a:t>
            </a:fld>
            <a:endParaRPr lang="en-IN" dirty="0"/>
          </a:p>
        </p:txBody>
      </p:sp>
      <p:pic>
        <p:nvPicPr>
          <p:cNvPr id="4" name="Image 1">
            <a:extLst>
              <a:ext uri="{FF2B5EF4-FFF2-40B4-BE49-F238E27FC236}">
                <a16:creationId xmlns:a16="http://schemas.microsoft.com/office/drawing/2014/main" id="{88BE24FB-E63B-7BB2-42B2-CF01074FE210}"/>
              </a:ext>
            </a:extLst>
          </p:cNvPr>
          <p:cNvPicPr>
            <a:picLocks/>
          </p:cNvPicPr>
          <p:nvPr/>
        </p:nvPicPr>
        <p:blipFill rotWithShape="1">
          <a:blip r:embed="rId3">
            <a:extLst>
              <a:ext uri="{28A0092B-C50C-407E-A947-70E740481C1C}">
                <a14:useLocalDpi xmlns:a14="http://schemas.microsoft.com/office/drawing/2010/main" val="0"/>
              </a:ext>
            </a:extLst>
          </a:blip>
          <a:srcRect l="919" r="-562" b="1637"/>
          <a:stretch>
            <a:fillRect/>
          </a:stretch>
        </p:blipFill>
        <p:spPr>
          <a:xfrm>
            <a:off x="11204801" y="135623"/>
            <a:ext cx="736147" cy="692808"/>
          </a:xfrm>
          <a:prstGeom prst="rect">
            <a:avLst/>
          </a:prstGeom>
        </p:spPr>
      </p:pic>
    </p:spTree>
    <p:extLst>
      <p:ext uri="{BB962C8B-B14F-4D97-AF65-F5344CB8AC3E}">
        <p14:creationId xmlns:p14="http://schemas.microsoft.com/office/powerpoint/2010/main" val="2495484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5A820D3-E241-0D32-4984-97E8A510F8BA}"/>
              </a:ext>
            </a:extLst>
          </p:cNvPr>
          <p:cNvGraphicFramePr>
            <a:graphicFrameLocks noGrp="1"/>
          </p:cNvGraphicFramePr>
          <p:nvPr>
            <p:extLst>
              <p:ext uri="{D42A27DB-BD31-4B8C-83A1-F6EECF244321}">
                <p14:modId xmlns:p14="http://schemas.microsoft.com/office/powerpoint/2010/main" val="634411791"/>
              </p:ext>
            </p:extLst>
          </p:nvPr>
        </p:nvGraphicFramePr>
        <p:xfrm>
          <a:off x="445873" y="688878"/>
          <a:ext cx="11451265" cy="5831192"/>
        </p:xfrm>
        <a:graphic>
          <a:graphicData uri="http://schemas.openxmlformats.org/drawingml/2006/table">
            <a:tbl>
              <a:tblPr firstRow="1" bandRow="1">
                <a:tableStyleId>{5C22544A-7EE6-4342-B048-85BDC9FD1C3A}</a:tableStyleId>
              </a:tblPr>
              <a:tblGrid>
                <a:gridCol w="867030">
                  <a:extLst>
                    <a:ext uri="{9D8B030D-6E8A-4147-A177-3AD203B41FA5}">
                      <a16:colId xmlns:a16="http://schemas.microsoft.com/office/drawing/2014/main" val="3905566263"/>
                    </a:ext>
                  </a:extLst>
                </a:gridCol>
                <a:gridCol w="2351757">
                  <a:extLst>
                    <a:ext uri="{9D8B030D-6E8A-4147-A177-3AD203B41FA5}">
                      <a16:colId xmlns:a16="http://schemas.microsoft.com/office/drawing/2014/main" val="1025566454"/>
                    </a:ext>
                  </a:extLst>
                </a:gridCol>
                <a:gridCol w="1593140">
                  <a:extLst>
                    <a:ext uri="{9D8B030D-6E8A-4147-A177-3AD203B41FA5}">
                      <a16:colId xmlns:a16="http://schemas.microsoft.com/office/drawing/2014/main" val="1846279832"/>
                    </a:ext>
                  </a:extLst>
                </a:gridCol>
                <a:gridCol w="1151977">
                  <a:extLst>
                    <a:ext uri="{9D8B030D-6E8A-4147-A177-3AD203B41FA5}">
                      <a16:colId xmlns:a16="http://schemas.microsoft.com/office/drawing/2014/main" val="3620334225"/>
                    </a:ext>
                  </a:extLst>
                </a:gridCol>
                <a:gridCol w="1955723">
                  <a:extLst>
                    <a:ext uri="{9D8B030D-6E8A-4147-A177-3AD203B41FA5}">
                      <a16:colId xmlns:a16="http://schemas.microsoft.com/office/drawing/2014/main" val="4080288957"/>
                    </a:ext>
                  </a:extLst>
                </a:gridCol>
                <a:gridCol w="1623326">
                  <a:extLst>
                    <a:ext uri="{9D8B030D-6E8A-4147-A177-3AD203B41FA5}">
                      <a16:colId xmlns:a16="http://schemas.microsoft.com/office/drawing/2014/main" val="4207672271"/>
                    </a:ext>
                  </a:extLst>
                </a:gridCol>
                <a:gridCol w="1908312">
                  <a:extLst>
                    <a:ext uri="{9D8B030D-6E8A-4147-A177-3AD203B41FA5}">
                      <a16:colId xmlns:a16="http://schemas.microsoft.com/office/drawing/2014/main" val="3129272563"/>
                    </a:ext>
                  </a:extLst>
                </a:gridCol>
              </a:tblGrid>
              <a:tr h="417161">
                <a:tc>
                  <a:txBody>
                    <a:bodyPr/>
                    <a:lstStyle/>
                    <a:p>
                      <a:pPr algn="just"/>
                      <a:r>
                        <a:rPr lang="en-US" sz="1600" dirty="0">
                          <a:latin typeface="Times New Roman" panose="02020603050405020304" pitchFamily="18" charset="0"/>
                          <a:cs typeface="Times New Roman" panose="02020603050405020304" pitchFamily="18" charset="0"/>
                        </a:rPr>
                        <a:t>Sl.NO</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METHODS USED</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ADVANTAGE </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DISADVANTAGE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3283801"/>
                  </a:ext>
                </a:extLst>
              </a:tr>
              <a:tr h="1748490">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4.</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Deep Learning in Automatic DR Detection and Grading Systems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Israa Y. </a:t>
                      </a:r>
                      <a:r>
                        <a:rPr lang="en-IN" sz="1600" dirty="0" err="1">
                          <a:latin typeface="Times New Roman" panose="02020603050405020304" pitchFamily="18" charset="0"/>
                          <a:cs typeface="Times New Roman" panose="02020603050405020304" pitchFamily="18" charset="0"/>
                        </a:rPr>
                        <a:t>Abushawish</a:t>
                      </a:r>
                      <a:r>
                        <a:rPr lang="en-IN" sz="1600" dirty="0">
                          <a:latin typeface="Times New Roman" panose="02020603050405020304" pitchFamily="18" charset="0"/>
                          <a:cs typeface="Times New Roman" panose="02020603050405020304" pitchFamily="18" charset="0"/>
                        </a:rPr>
                        <a:t> et</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2024</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CNNs, Transfer Learning, Grad-CAM</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r>
                        <a:rPr lang="en-IN" sz="1600" dirty="0">
                          <a:latin typeface="Times New Roman" panose="02020603050405020304" pitchFamily="18" charset="0"/>
                          <a:cs typeface="Times New Roman" panose="02020603050405020304" pitchFamily="18" charset="0"/>
                        </a:rPr>
                        <a:t>Strong model benchmarking, interpretability</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Black-box issue, real-time limitations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975944111"/>
                  </a:ext>
                </a:extLst>
              </a:tr>
              <a:tr h="1266332">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5.</a:t>
                      </a: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Deep Diabetic: An Identification System of Diabetic Eye Diseases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just"/>
                      <a:r>
                        <a:rPr lang="it-IT" sz="1600" dirty="0">
                          <a:latin typeface="Times New Roman" panose="02020603050405020304" pitchFamily="18" charset="0"/>
                          <a:cs typeface="Times New Roman" panose="02020603050405020304" pitchFamily="18" charset="0"/>
                        </a:rPr>
                        <a:t>Arwa Albelaihi, Dina M. Ibrahim</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2024</a:t>
                      </a:r>
                    </a:p>
                  </a:txBody>
                  <a:tcPr anchor="ctr"/>
                </a:tc>
                <a:tc>
                  <a:txBody>
                    <a:bodyPr/>
                    <a:lstStyle/>
                    <a:p>
                      <a:pPr algn="just"/>
                      <a:r>
                        <a:rPr lang="en-IN" sz="1600" dirty="0">
                          <a:latin typeface="Times New Roman" panose="02020603050405020304" pitchFamily="18" charset="0"/>
                          <a:cs typeface="Times New Roman" panose="02020603050405020304" pitchFamily="18" charset="0"/>
                        </a:rPr>
                        <a:t>EfficientNetB0, VGG16, ResNet152V2 + GRU/Bi-GRU</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Multi-class eye disease classification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Limited dataset size, resource-heavy</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698948574"/>
                  </a:ext>
                </a:extLst>
              </a:tr>
              <a:tr h="1236940">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6.</a:t>
                      </a:r>
                    </a:p>
                  </a:txBody>
                  <a:tcPr anchor="ctr"/>
                </a:tc>
                <a:tc>
                  <a:txBody>
                    <a:bodyPr/>
                    <a:lstStyle/>
                    <a:p>
                      <a:pPr algn="just"/>
                      <a:r>
                        <a:rPr lang="en-US" sz="1600" dirty="0">
                          <a:latin typeface="Times New Roman" panose="02020603050405020304" pitchFamily="18" charset="0"/>
                          <a:cs typeface="Times New Roman" panose="02020603050405020304" pitchFamily="18" charset="0"/>
                        </a:rPr>
                        <a:t>Diabetic Retinopathy Classification With DL via Fundus Images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Shanshan Zhu et al.</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2024</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CNNs (</a:t>
                      </a:r>
                      <a:r>
                        <a:rPr lang="en-IN" sz="1600" dirty="0" err="1">
                          <a:latin typeface="Times New Roman" panose="02020603050405020304" pitchFamily="18" charset="0"/>
                          <a:cs typeface="Times New Roman" panose="02020603050405020304" pitchFamily="18" charset="0"/>
                        </a:rPr>
                        <a:t>ResNet</a:t>
                      </a:r>
                      <a:r>
                        <a:rPr lang="en-IN" sz="1600" dirty="0">
                          <a:latin typeface="Times New Roman" panose="02020603050405020304" pitchFamily="18" charset="0"/>
                          <a:cs typeface="Times New Roman" panose="02020603050405020304" pitchFamily="18" charset="0"/>
                        </a:rPr>
                        <a:t>, VGG), Transfer Learning</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r>
                        <a:rPr lang="en-US" sz="1600" dirty="0">
                          <a:latin typeface="Times New Roman" panose="02020603050405020304" pitchFamily="18" charset="0"/>
                          <a:cs typeface="Times New Roman" panose="02020603050405020304" pitchFamily="18" charset="0"/>
                        </a:rPr>
                        <a:t>Detailed trends and DL strategies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r>
                        <a:rPr lang="en-US" sz="1600" dirty="0">
                          <a:latin typeface="Times New Roman" panose="02020603050405020304" pitchFamily="18" charset="0"/>
                          <a:cs typeface="Times New Roman" panose="02020603050405020304" pitchFamily="18" charset="0"/>
                        </a:rPr>
                        <a:t>Still lacks full clinical integration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325503521"/>
                  </a:ext>
                </a:extLst>
              </a:tr>
              <a:tr h="1162269">
                <a:tc>
                  <a:txBody>
                    <a:bodyPr/>
                    <a:lstStyle/>
                    <a:p>
                      <a:pPr algn="just">
                        <a:buNone/>
                      </a:pPr>
                      <a:r>
                        <a:rPr lang="en-IN" sz="1600" kern="1200" dirty="0">
                          <a:solidFill>
                            <a:schemeClr val="dk1"/>
                          </a:solidFill>
                          <a:latin typeface="Times New Roman" panose="02020603050405020304" pitchFamily="18" charset="0"/>
                          <a:ea typeface="+mn-ea"/>
                          <a:cs typeface="Times New Roman" panose="02020603050405020304" pitchFamily="18" charset="0"/>
                        </a:rPr>
                        <a:t>7.</a:t>
                      </a:r>
                    </a:p>
                  </a:txBody>
                  <a:tcPr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Diagnosis of DR Using Deep Neural Networks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err="1">
                          <a:latin typeface="Times New Roman" panose="02020603050405020304" pitchFamily="18" charset="0"/>
                          <a:cs typeface="Times New Roman" panose="02020603050405020304" pitchFamily="18" charset="0"/>
                        </a:rPr>
                        <a:t>Zhentao</a:t>
                      </a:r>
                      <a:r>
                        <a:rPr lang="en-IN" sz="1600" dirty="0">
                          <a:latin typeface="Times New Roman" panose="02020603050405020304" pitchFamily="18" charset="0"/>
                          <a:cs typeface="Times New Roman" panose="02020603050405020304" pitchFamily="18" charset="0"/>
                        </a:rPr>
                        <a:t> Gao et al.</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2018</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Deep CNN</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US" sz="1600" dirty="0">
                          <a:latin typeface="Times New Roman" panose="02020603050405020304" pitchFamily="18" charset="0"/>
                          <a:cs typeface="Times New Roman" panose="02020603050405020304" pitchFamily="18" charset="0"/>
                        </a:rPr>
                        <a:t>Cloud deployment, good consistency with experts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US" sz="1600" dirty="0">
                          <a:latin typeface="Times New Roman" panose="02020603050405020304" pitchFamily="18" charset="0"/>
                          <a:cs typeface="Times New Roman" panose="02020603050405020304" pitchFamily="18" charset="0"/>
                        </a:rPr>
                        <a:t>Older model, 88.72% accuracy only</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extLst>
                  <a:ext uri="{0D108BD9-81ED-4DB2-BD59-A6C34878D82A}">
                    <a16:rowId xmlns:a16="http://schemas.microsoft.com/office/drawing/2014/main" val="398972216"/>
                  </a:ext>
                </a:extLst>
              </a:tr>
            </a:tbl>
          </a:graphicData>
        </a:graphic>
      </p:graphicFrame>
      <p:pic>
        <p:nvPicPr>
          <p:cNvPr id="5" name="Picture 4">
            <a:extLst>
              <a:ext uri="{FF2B5EF4-FFF2-40B4-BE49-F238E27FC236}">
                <a16:creationId xmlns:a16="http://schemas.microsoft.com/office/drawing/2014/main" id="{C8A01C37-F116-F3D6-BA2F-E70407D48CB4}"/>
              </a:ext>
            </a:extLst>
          </p:cNvPr>
          <p:cNvPicPr>
            <a:picLocks noChangeAspect="1"/>
          </p:cNvPicPr>
          <p:nvPr/>
        </p:nvPicPr>
        <p:blipFill>
          <a:blip r:embed="rId2"/>
          <a:stretch>
            <a:fillRect/>
          </a:stretch>
        </p:blipFill>
        <p:spPr>
          <a:xfrm>
            <a:off x="178702" y="66759"/>
            <a:ext cx="534344" cy="504658"/>
          </a:xfrm>
          <a:prstGeom prst="rect">
            <a:avLst/>
          </a:prstGeom>
        </p:spPr>
      </p:pic>
      <p:sp>
        <p:nvSpPr>
          <p:cNvPr id="4" name="Slide Number Placeholder 3">
            <a:extLst>
              <a:ext uri="{FF2B5EF4-FFF2-40B4-BE49-F238E27FC236}">
                <a16:creationId xmlns:a16="http://schemas.microsoft.com/office/drawing/2014/main" id="{CB2921A3-0E32-5199-5628-0D054E45FF83}"/>
              </a:ext>
            </a:extLst>
          </p:cNvPr>
          <p:cNvSpPr>
            <a:spLocks noGrp="1"/>
          </p:cNvSpPr>
          <p:nvPr>
            <p:ph type="sldNum" sz="quarter" idx="12"/>
          </p:nvPr>
        </p:nvSpPr>
        <p:spPr/>
        <p:txBody>
          <a:bodyPr/>
          <a:lstStyle/>
          <a:p>
            <a:fld id="{BDD15B8C-3E3D-40B6-859E-6DE4B63CF92E}" type="slidenum">
              <a:rPr lang="en-IN" smtClean="0"/>
              <a:t>7</a:t>
            </a:fld>
            <a:endParaRPr lang="en-IN" dirty="0"/>
          </a:p>
        </p:txBody>
      </p:sp>
      <p:pic>
        <p:nvPicPr>
          <p:cNvPr id="2" name="Image 1">
            <a:extLst>
              <a:ext uri="{FF2B5EF4-FFF2-40B4-BE49-F238E27FC236}">
                <a16:creationId xmlns:a16="http://schemas.microsoft.com/office/drawing/2014/main" id="{47AF5B61-69F6-8227-13CE-41814AA1F146}"/>
              </a:ext>
            </a:extLst>
          </p:cNvPr>
          <p:cNvPicPr>
            <a:picLocks/>
          </p:cNvPicPr>
          <p:nvPr/>
        </p:nvPicPr>
        <p:blipFill rotWithShape="1">
          <a:blip r:embed="rId3">
            <a:extLst>
              <a:ext uri="{28A0092B-C50C-407E-A947-70E740481C1C}">
                <a14:useLocalDpi xmlns:a14="http://schemas.microsoft.com/office/drawing/2010/main" val="0"/>
              </a:ext>
            </a:extLst>
          </a:blip>
          <a:srcRect l="919" r="-562" b="1637"/>
          <a:stretch>
            <a:fillRect/>
          </a:stretch>
        </p:blipFill>
        <p:spPr>
          <a:xfrm>
            <a:off x="11267089" y="209193"/>
            <a:ext cx="673859" cy="362224"/>
          </a:xfrm>
          <a:prstGeom prst="rect">
            <a:avLst/>
          </a:prstGeom>
        </p:spPr>
      </p:pic>
    </p:spTree>
    <p:extLst>
      <p:ext uri="{BB962C8B-B14F-4D97-AF65-F5344CB8AC3E}">
        <p14:creationId xmlns:p14="http://schemas.microsoft.com/office/powerpoint/2010/main" val="817111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6DBABE-C4A7-86AC-9DC9-A41A4F86B6D3}"/>
              </a:ext>
            </a:extLst>
          </p:cNvPr>
          <p:cNvGraphicFramePr>
            <a:graphicFrameLocks noGrp="1"/>
          </p:cNvGraphicFramePr>
          <p:nvPr>
            <p:extLst>
              <p:ext uri="{D42A27DB-BD31-4B8C-83A1-F6EECF244321}">
                <p14:modId xmlns:p14="http://schemas.microsoft.com/office/powerpoint/2010/main" val="77498769"/>
              </p:ext>
            </p:extLst>
          </p:nvPr>
        </p:nvGraphicFramePr>
        <p:xfrm>
          <a:off x="182246" y="763948"/>
          <a:ext cx="11699954" cy="5408252"/>
        </p:xfrm>
        <a:graphic>
          <a:graphicData uri="http://schemas.openxmlformats.org/drawingml/2006/table">
            <a:tbl>
              <a:tblPr firstRow="1" bandRow="1">
                <a:tableStyleId>{5C22544A-7EE6-4342-B048-85BDC9FD1C3A}</a:tableStyleId>
              </a:tblPr>
              <a:tblGrid>
                <a:gridCol w="851424">
                  <a:extLst>
                    <a:ext uri="{9D8B030D-6E8A-4147-A177-3AD203B41FA5}">
                      <a16:colId xmlns:a16="http://schemas.microsoft.com/office/drawing/2014/main" val="2480351456"/>
                    </a:ext>
                  </a:extLst>
                </a:gridCol>
                <a:gridCol w="2491420">
                  <a:extLst>
                    <a:ext uri="{9D8B030D-6E8A-4147-A177-3AD203B41FA5}">
                      <a16:colId xmlns:a16="http://schemas.microsoft.com/office/drawing/2014/main" val="272447237"/>
                    </a:ext>
                  </a:extLst>
                </a:gridCol>
                <a:gridCol w="1671422">
                  <a:extLst>
                    <a:ext uri="{9D8B030D-6E8A-4147-A177-3AD203B41FA5}">
                      <a16:colId xmlns:a16="http://schemas.microsoft.com/office/drawing/2014/main" val="2070632678"/>
                    </a:ext>
                  </a:extLst>
                </a:gridCol>
                <a:gridCol w="1333497">
                  <a:extLst>
                    <a:ext uri="{9D8B030D-6E8A-4147-A177-3AD203B41FA5}">
                      <a16:colId xmlns:a16="http://schemas.microsoft.com/office/drawing/2014/main" val="211698336"/>
                    </a:ext>
                  </a:extLst>
                </a:gridCol>
                <a:gridCol w="1868556">
                  <a:extLst>
                    <a:ext uri="{9D8B030D-6E8A-4147-A177-3AD203B41FA5}">
                      <a16:colId xmlns:a16="http://schemas.microsoft.com/office/drawing/2014/main" val="1979762077"/>
                    </a:ext>
                  </a:extLst>
                </a:gridCol>
                <a:gridCol w="1560444">
                  <a:extLst>
                    <a:ext uri="{9D8B030D-6E8A-4147-A177-3AD203B41FA5}">
                      <a16:colId xmlns:a16="http://schemas.microsoft.com/office/drawing/2014/main" val="472053130"/>
                    </a:ext>
                  </a:extLst>
                </a:gridCol>
                <a:gridCol w="1923191">
                  <a:extLst>
                    <a:ext uri="{9D8B030D-6E8A-4147-A177-3AD203B41FA5}">
                      <a16:colId xmlns:a16="http://schemas.microsoft.com/office/drawing/2014/main" val="4020163853"/>
                    </a:ext>
                  </a:extLst>
                </a:gridCol>
              </a:tblGrid>
              <a:tr h="514588">
                <a:tc>
                  <a:txBody>
                    <a:bodyPr/>
                    <a:lstStyle/>
                    <a:p>
                      <a:pPr algn="just"/>
                      <a:r>
                        <a:rPr lang="en-US" sz="1600" dirty="0">
                          <a:latin typeface="Times New Roman" panose="02020603050405020304" pitchFamily="18" charset="0"/>
                          <a:cs typeface="Times New Roman" panose="02020603050405020304" pitchFamily="18" charset="0"/>
                        </a:rPr>
                        <a:t>Sl.NO</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METHODS USED</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ADVANTAGE </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DISADVANTAGE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5894468"/>
                  </a:ext>
                </a:extLst>
              </a:tr>
              <a:tr h="1545668">
                <a:tc>
                  <a:txBody>
                    <a:bodyPr/>
                    <a:lstStyle/>
                    <a:p>
                      <a:pPr algn="just"/>
                      <a:r>
                        <a:rPr lang="en-US" sz="1600" kern="1200" dirty="0">
                          <a:solidFill>
                            <a:schemeClr val="dk1"/>
                          </a:solidFill>
                          <a:latin typeface="Times New Roman" panose="02020603050405020304" pitchFamily="18" charset="0"/>
                          <a:ea typeface="+mn-ea"/>
                          <a:cs typeface="Times New Roman" panose="02020603050405020304" pitchFamily="18" charset="0"/>
                        </a:rPr>
                        <a:t>8.</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gn="just">
                        <a:buNone/>
                      </a:pPr>
                      <a:r>
                        <a:rPr lang="en-US" sz="1600" dirty="0">
                          <a:latin typeface="Times New Roman" panose="02020603050405020304" pitchFamily="18" charset="0"/>
                          <a:cs typeface="Times New Roman" panose="02020603050405020304" pitchFamily="18" charset="0"/>
                        </a:rPr>
                        <a:t>Enhancing Early Detection of DR Through DL and XAI</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Kazi A. Alavee et al.</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kern="1200" dirty="0">
                          <a:solidFill>
                            <a:schemeClr val="dk1"/>
                          </a:solidFill>
                          <a:latin typeface="Times New Roman" panose="02020603050405020304" pitchFamily="18" charset="0"/>
                          <a:ea typeface="+mn-ea"/>
                          <a:cs typeface="Times New Roman" panose="02020603050405020304" pitchFamily="18" charset="0"/>
                        </a:rPr>
                        <a:t>2024</a:t>
                      </a: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CNN, </a:t>
                      </a:r>
                      <a:r>
                        <a:rPr lang="en-IN" sz="1600" dirty="0" err="1">
                          <a:latin typeface="Times New Roman" panose="02020603050405020304" pitchFamily="18" charset="0"/>
                          <a:cs typeface="Times New Roman" panose="02020603050405020304" pitchFamily="18" charset="0"/>
                        </a:rPr>
                        <a:t>Xception</a:t>
                      </a:r>
                      <a:r>
                        <a:rPr lang="en-IN" sz="1600" dirty="0">
                          <a:latin typeface="Times New Roman" panose="02020603050405020304" pitchFamily="18" charset="0"/>
                          <a:cs typeface="Times New Roman" panose="02020603050405020304" pitchFamily="18" charset="0"/>
                        </a:rPr>
                        <a:t>, ResNet50, VGG19, Grad-CAM</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95.27% accuracy, XAI integration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US" sz="1600" dirty="0">
                          <a:latin typeface="Times New Roman" panose="02020603050405020304" pitchFamily="18" charset="0"/>
                          <a:cs typeface="Times New Roman" panose="02020603050405020304" pitchFamily="18" charset="0"/>
                        </a:rPr>
                        <a:t>Manual screening still required for subtle features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extLst>
                  <a:ext uri="{0D108BD9-81ED-4DB2-BD59-A6C34878D82A}">
                    <a16:rowId xmlns:a16="http://schemas.microsoft.com/office/drawing/2014/main" val="2111694986"/>
                  </a:ext>
                </a:extLst>
              </a:tr>
              <a:tr h="1673998">
                <a:tc>
                  <a:txBody>
                    <a:bodyPr/>
                    <a:lstStyle/>
                    <a:p>
                      <a:pPr algn="just"/>
                      <a:r>
                        <a:rPr lang="en-US" sz="1600" dirty="0">
                          <a:latin typeface="Times New Roman" panose="02020603050405020304" pitchFamily="18" charset="0"/>
                          <a:cs typeface="Times New Roman" panose="02020603050405020304" pitchFamily="18" charset="0"/>
                        </a:rPr>
                        <a:t>9.</a:t>
                      </a:r>
                    </a:p>
                  </a:txBody>
                  <a:tcPr anchor="ctr"/>
                </a:tc>
                <a:tc>
                  <a:txBody>
                    <a:bodyPr/>
                    <a:lstStyle/>
                    <a:p>
                      <a:pPr algn="just">
                        <a:buNone/>
                      </a:pPr>
                      <a:r>
                        <a:rPr lang="en-IN" sz="1600" dirty="0">
                          <a:latin typeface="Times New Roman" panose="02020603050405020304" pitchFamily="18" charset="0"/>
                          <a:cs typeface="Times New Roman" panose="02020603050405020304" pitchFamily="18" charset="0"/>
                        </a:rPr>
                        <a:t>Optical imaging for DR diagnosis using ensemble models</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S. Pavithra et al.</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kern="1200" dirty="0">
                          <a:solidFill>
                            <a:schemeClr val="dk1"/>
                          </a:solidFill>
                          <a:latin typeface="Times New Roman" panose="02020603050405020304" pitchFamily="18" charset="0"/>
                          <a:ea typeface="+mn-ea"/>
                          <a:cs typeface="Times New Roman" panose="02020603050405020304" pitchFamily="18" charset="0"/>
                        </a:rPr>
                        <a:t>2024</a:t>
                      </a:r>
                    </a:p>
                  </a:txBody>
                  <a:tcPr marL="76200" marR="76200" marT="76200" marB="76200" anchor="ctr"/>
                </a:tc>
                <a:tc>
                  <a:txBody>
                    <a:bodyPr/>
                    <a:lstStyle/>
                    <a:p>
                      <a:pPr algn="just">
                        <a:buNone/>
                      </a:pPr>
                      <a:r>
                        <a:rPr lang="fr-FR" sz="1600" dirty="0">
                          <a:latin typeface="Times New Roman" panose="02020603050405020304" pitchFamily="18" charset="0"/>
                          <a:cs typeface="Times New Roman" panose="02020603050405020304" pitchFamily="18" charset="0"/>
                        </a:rPr>
                        <a:t>VGG19, ResNet50, InceptionV3, CNN ensemble</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US" sz="1600" dirty="0">
                          <a:latin typeface="Times New Roman" panose="02020603050405020304" pitchFamily="18" charset="0"/>
                          <a:cs typeface="Times New Roman" panose="02020603050405020304" pitchFamily="18" charset="0"/>
                        </a:rPr>
                        <a:t>Fine and multi-scale feature extraction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latin typeface="Times New Roman" panose="02020603050405020304" pitchFamily="18" charset="0"/>
                          <a:cs typeface="Times New Roman" panose="02020603050405020304" pitchFamily="18" charset="0"/>
                        </a:rPr>
                        <a:t>Early-stage detection still challenging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extLst>
                  <a:ext uri="{0D108BD9-81ED-4DB2-BD59-A6C34878D82A}">
                    <a16:rowId xmlns:a16="http://schemas.microsoft.com/office/drawing/2014/main" val="3385813244"/>
                  </a:ext>
                </a:extLst>
              </a:tr>
              <a:tr h="1673998">
                <a:tc>
                  <a:txBody>
                    <a:bodyPr/>
                    <a:lstStyle/>
                    <a:p>
                      <a:pPr algn="just"/>
                      <a:r>
                        <a:rPr lang="en-US" sz="1600" dirty="0">
                          <a:latin typeface="Times New Roman" panose="02020603050405020304" pitchFamily="18" charset="0"/>
                          <a:cs typeface="Times New Roman" panose="02020603050405020304" pitchFamily="18" charset="0"/>
                        </a:rPr>
                        <a:t>10.</a:t>
                      </a:r>
                    </a:p>
                  </a:txBody>
                  <a:tcPr anchor="ctr"/>
                </a:tc>
                <a:tc>
                  <a:txBody>
                    <a:bodyPr/>
                    <a:lstStyle/>
                    <a:p>
                      <a:pPr algn="just">
                        <a:buNone/>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Hybrid approach for DR detection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dirty="0">
                          <a:effectLst/>
                          <a:latin typeface="Times New Roman" panose="02020603050405020304" pitchFamily="18" charset="0"/>
                          <a:cs typeface="Times New Roman" panose="02020603050405020304" pitchFamily="18" charset="0"/>
                        </a:rPr>
                        <a:t>Uzair Ishtiaq et al.</a:t>
                      </a:r>
                    </a:p>
                  </a:txBody>
                  <a:tcPr marL="76200" marR="76200" marT="76200" marB="76200" anchor="ctr"/>
                </a:tc>
                <a:tc>
                  <a:txBody>
                    <a:bodyPr/>
                    <a:lstStyle/>
                    <a:p>
                      <a:pPr algn="just">
                        <a:buNone/>
                      </a:pPr>
                      <a:r>
                        <a:rPr lang="en-IN" sz="1600" dirty="0">
                          <a:effectLst/>
                          <a:latin typeface="Times New Roman" panose="02020603050405020304" pitchFamily="18" charset="0"/>
                          <a:cs typeface="Times New Roman" panose="02020603050405020304" pitchFamily="18" charset="0"/>
                        </a:rPr>
                        <a:t>             2023</a:t>
                      </a:r>
                    </a:p>
                  </a:txBody>
                  <a:tcPr marL="76200" marR="76200" marT="76200" marB="76200" anchor="ctr"/>
                </a:tc>
                <a:tc>
                  <a:txBody>
                    <a:bodyPr/>
                    <a:lstStyle/>
                    <a:p>
                      <a:pPr algn="just">
                        <a:buNone/>
                      </a:pPr>
                      <a:r>
                        <a:rPr lang="en-IN" sz="1600" dirty="0">
                          <a:effectLst/>
                          <a:latin typeface="Times New Roman" panose="02020603050405020304" pitchFamily="18" charset="0"/>
                          <a:cs typeface="Times New Roman" panose="02020603050405020304" pitchFamily="18" charset="0"/>
                        </a:rPr>
                        <a:t>GraphNet124, ResNet50, LBP</a:t>
                      </a:r>
                    </a:p>
                  </a:txBody>
                  <a:tcPr marL="76200" marR="76200" marT="76200" marB="76200" anchor="ctr"/>
                </a:tc>
                <a:tc>
                  <a:txBody>
                    <a:bodyPr/>
                    <a:lstStyle/>
                    <a:p>
                      <a:pPr algn="just">
                        <a:buNone/>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High accuracy (98.85%)</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tc>
                  <a:txBody>
                    <a:bodyPr/>
                    <a:lstStyle/>
                    <a:p>
                      <a:pPr algn="just">
                        <a:buNone/>
                      </a:pPr>
                      <a:r>
                        <a:rPr lang="en-IN" sz="1600" b="0" i="0" kern="1200" dirty="0">
                          <a:solidFill>
                            <a:schemeClr val="dk1"/>
                          </a:solidFill>
                          <a:effectLst/>
                          <a:latin typeface="Times New Roman" panose="02020603050405020304" pitchFamily="18" charset="0"/>
                          <a:ea typeface="+mn-ea"/>
                          <a:cs typeface="Times New Roman" panose="02020603050405020304" pitchFamily="18" charset="0"/>
                        </a:rPr>
                        <a:t>Complex feature optimization</a:t>
                      </a:r>
                      <a:endParaRPr lang="en-US" sz="1600" kern="1200" dirty="0">
                        <a:solidFill>
                          <a:schemeClr val="dk1"/>
                        </a:solidFill>
                        <a:latin typeface="Times New Roman" panose="02020603050405020304" pitchFamily="18" charset="0"/>
                        <a:ea typeface="+mn-ea"/>
                        <a:cs typeface="Times New Roman" panose="02020603050405020304" pitchFamily="18" charset="0"/>
                      </a:endParaRPr>
                    </a:p>
                  </a:txBody>
                  <a:tcPr marL="76200" marR="76200" marT="76200" marB="76200" anchor="ctr"/>
                </a:tc>
                <a:extLst>
                  <a:ext uri="{0D108BD9-81ED-4DB2-BD59-A6C34878D82A}">
                    <a16:rowId xmlns:a16="http://schemas.microsoft.com/office/drawing/2014/main" val="225248376"/>
                  </a:ext>
                </a:extLst>
              </a:tr>
            </a:tbl>
          </a:graphicData>
        </a:graphic>
      </p:graphicFrame>
      <p:pic>
        <p:nvPicPr>
          <p:cNvPr id="5" name="Picture 4">
            <a:extLst>
              <a:ext uri="{FF2B5EF4-FFF2-40B4-BE49-F238E27FC236}">
                <a16:creationId xmlns:a16="http://schemas.microsoft.com/office/drawing/2014/main" id="{88F10700-EC33-BE94-6BBD-5A4067353B35}"/>
              </a:ext>
            </a:extLst>
          </p:cNvPr>
          <p:cNvPicPr>
            <a:picLocks noChangeAspect="1"/>
          </p:cNvPicPr>
          <p:nvPr/>
        </p:nvPicPr>
        <p:blipFill>
          <a:blip r:embed="rId2"/>
          <a:stretch>
            <a:fillRect/>
          </a:stretch>
        </p:blipFill>
        <p:spPr>
          <a:xfrm>
            <a:off x="182246" y="122638"/>
            <a:ext cx="585766" cy="553223"/>
          </a:xfrm>
          <a:prstGeom prst="rect">
            <a:avLst/>
          </a:prstGeom>
        </p:spPr>
      </p:pic>
      <p:sp>
        <p:nvSpPr>
          <p:cNvPr id="3" name="Slide Number Placeholder 2">
            <a:extLst>
              <a:ext uri="{FF2B5EF4-FFF2-40B4-BE49-F238E27FC236}">
                <a16:creationId xmlns:a16="http://schemas.microsoft.com/office/drawing/2014/main" id="{C3EC03E7-4076-2F1A-C94A-D132B1E0E75A}"/>
              </a:ext>
            </a:extLst>
          </p:cNvPr>
          <p:cNvSpPr>
            <a:spLocks noGrp="1"/>
          </p:cNvSpPr>
          <p:nvPr>
            <p:ph type="sldNum" sz="quarter" idx="12"/>
          </p:nvPr>
        </p:nvSpPr>
        <p:spPr/>
        <p:txBody>
          <a:bodyPr/>
          <a:lstStyle/>
          <a:p>
            <a:fld id="{BDD15B8C-3E3D-40B6-859E-6DE4B63CF92E}" type="slidenum">
              <a:rPr lang="en-IN" smtClean="0"/>
              <a:t>8</a:t>
            </a:fld>
            <a:endParaRPr lang="en-IN" dirty="0"/>
          </a:p>
        </p:txBody>
      </p:sp>
      <p:pic>
        <p:nvPicPr>
          <p:cNvPr id="6" name="Image 1">
            <a:extLst>
              <a:ext uri="{FF2B5EF4-FFF2-40B4-BE49-F238E27FC236}">
                <a16:creationId xmlns:a16="http://schemas.microsoft.com/office/drawing/2014/main" id="{FD801039-1B21-4478-BCD3-06679DF7C133}"/>
              </a:ext>
            </a:extLst>
          </p:cNvPr>
          <p:cNvPicPr>
            <a:picLocks/>
          </p:cNvPicPr>
          <p:nvPr/>
        </p:nvPicPr>
        <p:blipFill rotWithShape="1">
          <a:blip r:embed="rId3">
            <a:extLst>
              <a:ext uri="{28A0092B-C50C-407E-A947-70E740481C1C}">
                <a14:useLocalDpi xmlns:a14="http://schemas.microsoft.com/office/drawing/2010/main" val="0"/>
              </a:ext>
            </a:extLst>
          </a:blip>
          <a:srcRect l="919" r="-562" b="1637"/>
          <a:stretch>
            <a:fillRect/>
          </a:stretch>
        </p:blipFill>
        <p:spPr>
          <a:xfrm>
            <a:off x="11267089" y="188173"/>
            <a:ext cx="673859" cy="466668"/>
          </a:xfrm>
          <a:prstGeom prst="rect">
            <a:avLst/>
          </a:prstGeom>
        </p:spPr>
      </p:pic>
    </p:spTree>
    <p:extLst>
      <p:ext uri="{BB962C8B-B14F-4D97-AF65-F5344CB8AC3E}">
        <p14:creationId xmlns:p14="http://schemas.microsoft.com/office/powerpoint/2010/main" val="393702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44F91911-68E6-BB8B-F16A-3FD34FA68EEA}"/>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C7118636-7D06-E303-5618-9FF7CFB714DC}"/>
              </a:ext>
            </a:extLst>
          </p:cNvPr>
          <p:cNvSpPr txBox="1">
            <a:spLocks noGrp="1"/>
          </p:cNvSpPr>
          <p:nvPr>
            <p:ph type="title"/>
          </p:nvPr>
        </p:nvSpPr>
        <p:spPr>
          <a:xfrm>
            <a:off x="251051" y="392285"/>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Existing System</a:t>
            </a:r>
            <a:endParaRPr sz="4000"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00A067BC-5F54-6C44-78A7-190D28ACFDAC}"/>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3" name="Text Placeholder 2">
            <a:extLst>
              <a:ext uri="{FF2B5EF4-FFF2-40B4-BE49-F238E27FC236}">
                <a16:creationId xmlns:a16="http://schemas.microsoft.com/office/drawing/2014/main" id="{1E65D9FF-3805-7B12-E310-8E734D2433D0}"/>
              </a:ext>
            </a:extLst>
          </p:cNvPr>
          <p:cNvSpPr>
            <a:spLocks noGrp="1"/>
          </p:cNvSpPr>
          <p:nvPr>
            <p:ph type="body" idx="1"/>
          </p:nvPr>
        </p:nvSpPr>
        <p:spPr/>
        <p:txBody>
          <a:bodyPr/>
          <a:lstStyle/>
          <a:p>
            <a:pPr marL="152396" indent="0" algn="just">
              <a:buNone/>
            </a:pPr>
            <a:r>
              <a:rPr lang="en-US" sz="2400" dirty="0">
                <a:latin typeface="Times New Roman" panose="02020603050405020304" pitchFamily="18" charset="0"/>
                <a:cs typeface="Times New Roman" panose="02020603050405020304" pitchFamily="18" charset="0"/>
              </a:rPr>
              <a:t>     The existing system in the base paper employs:</a:t>
            </a:r>
          </a:p>
          <a:p>
            <a:pPr marL="152396"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Convolutional Neural Network (CNN)</a:t>
            </a:r>
            <a:r>
              <a:rPr lang="en-US" sz="2400" dirty="0">
                <a:latin typeface="Times New Roman" panose="02020603050405020304" pitchFamily="18" charset="0"/>
                <a:cs typeface="Times New Roman" panose="02020603050405020304" pitchFamily="18" charset="0"/>
              </a:rPr>
              <a:t> to classify diabetic retinopathy stages from retinal fundus images.</a:t>
            </a:r>
          </a:p>
          <a:p>
            <a:pPr algn="just"/>
            <a:r>
              <a:rPr lang="en-US" sz="2400" dirty="0">
                <a:latin typeface="Times New Roman" panose="02020603050405020304" pitchFamily="18" charset="0"/>
                <a:cs typeface="Times New Roman" panose="02020603050405020304" pitchFamily="18" charset="0"/>
              </a:rPr>
              <a:t>Integration of </a:t>
            </a:r>
            <a:r>
              <a:rPr lang="en-US" sz="2400" b="1" dirty="0">
                <a:latin typeface="Times New Roman" panose="02020603050405020304" pitchFamily="18" charset="0"/>
                <a:cs typeface="Times New Roman" panose="02020603050405020304" pitchFamily="18" charset="0"/>
              </a:rPr>
              <a:t>Explainable AI (XAI)</a:t>
            </a:r>
            <a:r>
              <a:rPr lang="en-US" sz="2400" dirty="0">
                <a:latin typeface="Times New Roman" panose="02020603050405020304" pitchFamily="18" charset="0"/>
                <a:cs typeface="Times New Roman" panose="02020603050405020304" pitchFamily="18" charset="0"/>
              </a:rPr>
              <a:t> tools like </a:t>
            </a:r>
            <a:r>
              <a:rPr lang="en-US" sz="2400" b="1" dirty="0">
                <a:latin typeface="Times New Roman" panose="02020603050405020304" pitchFamily="18" charset="0"/>
                <a:cs typeface="Times New Roman" panose="02020603050405020304" pitchFamily="18" charset="0"/>
              </a:rPr>
              <a:t>Grad-CAM</a:t>
            </a:r>
            <a:r>
              <a:rPr lang="en-US" sz="2400" dirty="0">
                <a:latin typeface="Times New Roman" panose="02020603050405020304" pitchFamily="18" charset="0"/>
                <a:cs typeface="Times New Roman" panose="02020603050405020304" pitchFamily="18" charset="0"/>
              </a:rPr>
              <a:t> to visualize model decisions and improve trust.</a:t>
            </a:r>
          </a:p>
          <a:p>
            <a:pPr algn="just"/>
            <a:r>
              <a:rPr lang="en-US" sz="2400" dirty="0">
                <a:latin typeface="Times New Roman" panose="02020603050405020304" pitchFamily="18" charset="0"/>
                <a:cs typeface="Times New Roman" panose="02020603050405020304" pitchFamily="18" charset="0"/>
              </a:rPr>
              <a:t>Achieved a </a:t>
            </a:r>
            <a:r>
              <a:rPr lang="en-US" sz="2400" b="1" dirty="0">
                <a:latin typeface="Times New Roman" panose="02020603050405020304" pitchFamily="18" charset="0"/>
                <a:cs typeface="Times New Roman" panose="02020603050405020304" pitchFamily="18" charset="0"/>
              </a:rPr>
              <a:t>diagnostic accuracy of 94%</a:t>
            </a:r>
            <a:r>
              <a:rPr lang="en-US" sz="2400" dirty="0">
                <a:latin typeface="Times New Roman" panose="02020603050405020304" pitchFamily="18" charset="0"/>
                <a:cs typeface="Times New Roman" panose="02020603050405020304" pitchFamily="18" charset="0"/>
              </a:rPr>
              <a:t>, outperforming some traditional and deep learning approaches.</a:t>
            </a:r>
          </a:p>
          <a:p>
            <a:pPr algn="just"/>
            <a:r>
              <a:rPr lang="en-US" sz="2400" dirty="0">
                <a:latin typeface="Times New Roman" panose="02020603050405020304" pitchFamily="18" charset="0"/>
                <a:cs typeface="Times New Roman" panose="02020603050405020304" pitchFamily="18" charset="0"/>
              </a:rPr>
              <a:t>Aimed to bridge the gap between automation and clinical acceptance through transparency in predictions.</a:t>
            </a:r>
          </a:p>
          <a:p>
            <a:pPr algn="just"/>
            <a:endParaRPr lang="en-IN"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E0BA5403-6042-D76E-3735-98BCE4542621}"/>
              </a:ext>
            </a:extLst>
          </p:cNvPr>
          <p:cNvSpPr>
            <a:spLocks noGrp="1"/>
          </p:cNvSpPr>
          <p:nvPr>
            <p:ph type="sldNum" idx="12"/>
          </p:nvPr>
        </p:nvSpPr>
        <p:spPr/>
        <p:txBody>
          <a:bodyPr/>
          <a:lstStyle/>
          <a:p>
            <a:fld id="{00000000-1234-1234-1234-123412341234}" type="slidenum">
              <a:rPr lang="en" smtClean="0"/>
              <a:t>9</a:t>
            </a:fld>
            <a:endParaRPr lang="en"/>
          </a:p>
        </p:txBody>
      </p:sp>
      <p:pic>
        <p:nvPicPr>
          <p:cNvPr id="4" name="Image 1">
            <a:extLst>
              <a:ext uri="{FF2B5EF4-FFF2-40B4-BE49-F238E27FC236}">
                <a16:creationId xmlns:a16="http://schemas.microsoft.com/office/drawing/2014/main" id="{1CC555C5-2789-BCFA-31F3-0B7D1036F35F}"/>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0918371" y="188173"/>
            <a:ext cx="1022578" cy="861572"/>
          </a:xfrm>
          <a:prstGeom prst="rect">
            <a:avLst/>
          </a:prstGeom>
        </p:spPr>
      </p:pic>
    </p:spTree>
    <p:extLst>
      <p:ext uri="{BB962C8B-B14F-4D97-AF65-F5344CB8AC3E}">
        <p14:creationId xmlns:p14="http://schemas.microsoft.com/office/powerpoint/2010/main" val="1505484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8610" name="Google Shape;104;p18"/>
          <p:cNvSpPr txBox="1">
            <a:spLocks noGrp="1"/>
          </p:cNvSpPr>
          <p:nvPr>
            <p:ph type="title"/>
          </p:nvPr>
        </p:nvSpPr>
        <p:spPr>
          <a:xfrm>
            <a:off x="415600" y="417142"/>
            <a:ext cx="11360800" cy="763600"/>
          </a:xfrm>
          <a:prstGeom prst="rect">
            <a:avLst/>
          </a:prstGeom>
          <a:noFill/>
          <a:ln>
            <a:noFill/>
          </a:ln>
        </p:spPr>
        <p:txBody>
          <a:bodyPr spcFirstLastPara="1" vert="horz" wrap="square" lIns="121900" tIns="121900" rIns="121900" bIns="121900" rtlCol="0" anchor="t" anchorCtr="0">
            <a:noAutofit/>
          </a:bodyPr>
          <a:lstStyle/>
          <a:p>
            <a:pPr algn="ctr">
              <a:buClr>
                <a:srgbClr val="000000"/>
              </a:buClr>
            </a:pPr>
            <a:r>
              <a:rPr lang="en-IN" b="1" dirty="0">
                <a:solidFill>
                  <a:srgbClr val="FF0000"/>
                </a:solidFill>
                <a:latin typeface="Times New Roman" panose="02020603050405020304" pitchFamily="18" charset="0"/>
                <a:cs typeface="Times New Roman" panose="02020603050405020304" pitchFamily="18" charset="0"/>
              </a:rPr>
              <a:t>Limitations of existing solution</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1" name="Image 1"/>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3" name="Text Placeholder 2">
            <a:extLst>
              <a:ext uri="{FF2B5EF4-FFF2-40B4-BE49-F238E27FC236}">
                <a16:creationId xmlns:a16="http://schemas.microsoft.com/office/drawing/2014/main" id="{F1BCFD58-34D2-85FB-B9D2-BF84358846D1}"/>
              </a:ext>
            </a:extLst>
          </p:cNvPr>
          <p:cNvSpPr>
            <a:spLocks noGrp="1"/>
          </p:cNvSpPr>
          <p:nvPr>
            <p:ph type="body" idx="1"/>
          </p:nvPr>
        </p:nvSpPr>
        <p:spPr>
          <a:xfrm>
            <a:off x="415600" y="1814929"/>
            <a:ext cx="11360800" cy="4178367"/>
          </a:xfrm>
        </p:spPr>
        <p:txBody>
          <a:bodyPr/>
          <a:lstStyle/>
          <a:p>
            <a:pPr algn="just"/>
            <a:r>
              <a:rPr lang="en-US" sz="2200" b="1" dirty="0">
                <a:latin typeface="Times New Roman" panose="02020603050405020304" pitchFamily="18" charset="0"/>
                <a:cs typeface="Times New Roman" panose="02020603050405020304" pitchFamily="18" charset="0"/>
              </a:rPr>
              <a:t>Local Feature Focus</a:t>
            </a:r>
            <a:r>
              <a:rPr lang="en-US" sz="2200" dirty="0">
                <a:latin typeface="Times New Roman" panose="02020603050405020304" pitchFamily="18" charset="0"/>
                <a:cs typeface="Times New Roman" panose="02020603050405020304" pitchFamily="18" charset="0"/>
              </a:rPr>
              <a:t>: CNNs mainly capture local patterns, missing long-range relationships crucial in complex retinal images.</a:t>
            </a:r>
          </a:p>
          <a:p>
            <a:pPr algn="just"/>
            <a:r>
              <a:rPr lang="en-US" sz="2200" b="1" dirty="0">
                <a:latin typeface="Times New Roman" panose="02020603050405020304" pitchFamily="18" charset="0"/>
                <a:cs typeface="Times New Roman" panose="02020603050405020304" pitchFamily="18" charset="0"/>
              </a:rPr>
              <a:t>Interpretability Constraints</a:t>
            </a:r>
            <a:r>
              <a:rPr lang="en-US" sz="2200" dirty="0">
                <a:latin typeface="Times New Roman" panose="02020603050405020304" pitchFamily="18" charset="0"/>
                <a:cs typeface="Times New Roman" panose="02020603050405020304" pitchFamily="18" charset="0"/>
              </a:rPr>
              <a:t>: Although Grad-CAM adds interpretability, it is still post hoc and does not explain all internal decision logic.</a:t>
            </a:r>
          </a:p>
          <a:p>
            <a:pPr algn="just"/>
            <a:r>
              <a:rPr lang="en-US" sz="2200" b="1" dirty="0">
                <a:latin typeface="Times New Roman" panose="02020603050405020304" pitchFamily="18" charset="0"/>
                <a:cs typeface="Times New Roman" panose="02020603050405020304" pitchFamily="18" charset="0"/>
              </a:rPr>
              <a:t>Generalization Issues</a:t>
            </a:r>
            <a:r>
              <a:rPr lang="en-US" sz="2200" dirty="0">
                <a:latin typeface="Times New Roman" panose="02020603050405020304" pitchFamily="18" charset="0"/>
                <a:cs typeface="Times New Roman" panose="02020603050405020304" pitchFamily="18" charset="0"/>
              </a:rPr>
              <a:t>: CNN models often struggle to generalize across diverse datasets due to sensitivity to image noise and variations.</a:t>
            </a:r>
          </a:p>
          <a:p>
            <a:pPr algn="just"/>
            <a:r>
              <a:rPr lang="en-US" sz="2200" b="1" dirty="0">
                <a:latin typeface="Times New Roman" panose="02020603050405020304" pitchFamily="18" charset="0"/>
                <a:cs typeface="Times New Roman" panose="02020603050405020304" pitchFamily="18" charset="0"/>
              </a:rPr>
              <a:t>Model Complexity</a:t>
            </a:r>
            <a:r>
              <a:rPr lang="en-US" sz="2200" dirty="0">
                <a:latin typeface="Times New Roman" panose="02020603050405020304" pitchFamily="18" charset="0"/>
                <a:cs typeface="Times New Roman" panose="02020603050405020304" pitchFamily="18" charset="0"/>
              </a:rPr>
              <a:t>: Deep CNNs may require extensive tuning and resources while still acting as black-box systems to some extent.</a:t>
            </a:r>
          </a:p>
          <a:p>
            <a:pPr algn="just"/>
            <a:r>
              <a:rPr lang="en-US" sz="2200" b="1" dirty="0">
                <a:latin typeface="Times New Roman" panose="02020603050405020304" pitchFamily="18" charset="0"/>
                <a:cs typeface="Times New Roman" panose="02020603050405020304" pitchFamily="18" charset="0"/>
              </a:rPr>
              <a:t>Training Limitations</a:t>
            </a:r>
            <a:r>
              <a:rPr lang="en-US" sz="2200" dirty="0">
                <a:latin typeface="Times New Roman" panose="02020603050405020304" pitchFamily="18" charset="0"/>
                <a:cs typeface="Times New Roman" panose="02020603050405020304" pitchFamily="18" charset="0"/>
              </a:rPr>
              <a:t>: CNNs can be prone to overfitting on small datasets and may not scale efficiently with large, high-resolution fundus images.</a:t>
            </a:r>
          </a:p>
        </p:txBody>
      </p:sp>
      <p:sp>
        <p:nvSpPr>
          <p:cNvPr id="2" name="Slide Number Placeholder 1">
            <a:extLst>
              <a:ext uri="{FF2B5EF4-FFF2-40B4-BE49-F238E27FC236}">
                <a16:creationId xmlns:a16="http://schemas.microsoft.com/office/drawing/2014/main" id="{D1C5D2C7-C7FD-E998-F32E-368E85A5EF21}"/>
              </a:ext>
            </a:extLst>
          </p:cNvPr>
          <p:cNvSpPr>
            <a:spLocks noGrp="1"/>
          </p:cNvSpPr>
          <p:nvPr>
            <p:ph type="sldNum" idx="12"/>
          </p:nvPr>
        </p:nvSpPr>
        <p:spPr/>
        <p:txBody>
          <a:bodyPr/>
          <a:lstStyle/>
          <a:p>
            <a:fld id="{00000000-1234-1234-1234-123412341234}" type="slidenum">
              <a:rPr lang="en" smtClean="0"/>
              <a:t>10</a:t>
            </a:fld>
            <a:endParaRPr lang="en"/>
          </a:p>
        </p:txBody>
      </p:sp>
      <p:pic>
        <p:nvPicPr>
          <p:cNvPr id="4" name="Image 1">
            <a:extLst>
              <a:ext uri="{FF2B5EF4-FFF2-40B4-BE49-F238E27FC236}">
                <a16:creationId xmlns:a16="http://schemas.microsoft.com/office/drawing/2014/main" id="{1B6FC6A2-C46B-4907-4C8C-C9798EF771E9}"/>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A5BBAEB-2FA4-F2F7-F670-FF051696CFAE}"/>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CCF932E5-7875-EA61-C932-542BF1DF9AA6}"/>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Proposed System</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317D3202-9E1C-4453-376B-C9C77E7326E8}"/>
              </a:ext>
            </a:extLst>
          </p:cNvPr>
          <p:cNvSpPr txBox="1">
            <a:spLocks noGrp="1"/>
          </p:cNvSpPr>
          <p:nvPr>
            <p:ph type="body" idx="1"/>
          </p:nvPr>
        </p:nvSpPr>
        <p:spPr>
          <a:xfrm>
            <a:off x="355630" y="1518554"/>
            <a:ext cx="11360800" cy="4896657"/>
          </a:xfrm>
          <a:prstGeom prst="rect">
            <a:avLst/>
          </a:prstGeom>
          <a:noFill/>
          <a:ln>
            <a:noFill/>
          </a:ln>
        </p:spPr>
        <p:txBody>
          <a:bodyPr spcFirstLastPara="1" vert="horz" wrap="square" lIns="121900" tIns="121900" rIns="121900" bIns="121900" rtlCol="0" anchor="t" anchorCtr="0">
            <a:noAutofit/>
          </a:bodyPr>
          <a:lstStyle/>
          <a:p>
            <a:pPr algn="just"/>
            <a:r>
              <a:rPr lang="en-US" sz="2200" dirty="0">
                <a:latin typeface="Times New Roman" panose="02020603050405020304" pitchFamily="18" charset="0"/>
                <a:cs typeface="Times New Roman" panose="02020603050405020304" pitchFamily="18" charset="0"/>
              </a:rPr>
              <a:t>To overcome the limitations of the existing CNN-based solution, the proposed system introduces the </a:t>
            </a:r>
            <a:r>
              <a:rPr lang="en-US" sz="2200" b="1" dirty="0">
                <a:latin typeface="Times New Roman" panose="02020603050405020304" pitchFamily="18" charset="0"/>
                <a:cs typeface="Times New Roman" panose="02020603050405020304" pitchFamily="18" charset="0"/>
              </a:rPr>
              <a:t>Vision Transformer (</a:t>
            </a:r>
            <a:r>
              <a:rPr lang="en-US" sz="2200" b="1" dirty="0" err="1">
                <a:latin typeface="Times New Roman" panose="02020603050405020304" pitchFamily="18" charset="0"/>
                <a:cs typeface="Times New Roman" panose="02020603050405020304" pitchFamily="18" charset="0"/>
              </a:rPr>
              <a:t>ViT</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architecture in place of traditional convolutional neural networks for the task of diabetic retinopathy diagnosis.</a:t>
            </a:r>
          </a:p>
          <a:p>
            <a:pPr algn="just"/>
            <a:r>
              <a:rPr lang="en-US" sz="2200" dirty="0" err="1">
                <a:latin typeface="Times New Roman" panose="02020603050405020304" pitchFamily="18" charset="0"/>
                <a:cs typeface="Times New Roman" panose="02020603050405020304" pitchFamily="18" charset="0"/>
              </a:rPr>
              <a:t>ViT</a:t>
            </a:r>
            <a:r>
              <a:rPr lang="en-US" sz="2200" dirty="0">
                <a:latin typeface="Times New Roman" panose="02020603050405020304" pitchFamily="18" charset="0"/>
                <a:cs typeface="Times New Roman" panose="02020603050405020304" pitchFamily="18" charset="0"/>
              </a:rPr>
              <a:t> uses self-attention to capture long-range dependencies in fundus images, unlike CNNs which focus on local features.</a:t>
            </a:r>
          </a:p>
          <a:p>
            <a:pPr algn="just"/>
            <a:r>
              <a:rPr lang="en-US" sz="2200" dirty="0" err="1">
                <a:latin typeface="Times New Roman" panose="02020603050405020304" pitchFamily="18" charset="0"/>
                <a:cs typeface="Times New Roman" panose="02020603050405020304" pitchFamily="18" charset="0"/>
              </a:rPr>
              <a:t>ViT</a:t>
            </a:r>
            <a:r>
              <a:rPr lang="en-US" sz="2200" dirty="0">
                <a:latin typeface="Times New Roman" panose="02020603050405020304" pitchFamily="18" charset="0"/>
                <a:cs typeface="Times New Roman" panose="02020603050405020304" pitchFamily="18" charset="0"/>
              </a:rPr>
              <a:t> provides native attention maps that make the model's decision-making process more transparent and explainable to clinicians.</a:t>
            </a:r>
          </a:p>
          <a:p>
            <a:pPr lvl="1" algn="just"/>
            <a:r>
              <a:rPr lang="en-IN" sz="2200" dirty="0">
                <a:latin typeface="Times New Roman" panose="02020603050405020304" pitchFamily="18" charset="0"/>
                <a:cs typeface="Times New Roman" panose="02020603050405020304" pitchFamily="18" charset="0"/>
              </a:rPr>
              <a:t>Improved Diagnostic Accuracy</a:t>
            </a:r>
          </a:p>
          <a:p>
            <a:pPr lvl="1" algn="just"/>
            <a:r>
              <a:rPr lang="en-IN" sz="2200" dirty="0">
                <a:latin typeface="Times New Roman" panose="02020603050405020304" pitchFamily="18" charset="0"/>
                <a:cs typeface="Times New Roman" panose="02020603050405020304" pitchFamily="18" charset="0"/>
              </a:rPr>
              <a:t>Scalability and Robustness</a:t>
            </a:r>
          </a:p>
          <a:p>
            <a:pPr lvl="1" algn="just"/>
            <a:r>
              <a:rPr lang="en-US" sz="2200" dirty="0">
                <a:latin typeface="Times New Roman" panose="02020603050405020304" pitchFamily="18" charset="0"/>
                <a:cs typeface="Times New Roman" panose="02020603050405020304" pitchFamily="18" charset="0"/>
              </a:rPr>
              <a:t>Enhanced Clinical Trust</a:t>
            </a:r>
          </a:p>
        </p:txBody>
      </p:sp>
      <p:pic>
        <p:nvPicPr>
          <p:cNvPr id="2097160" name="Image 1">
            <a:extLst>
              <a:ext uri="{FF2B5EF4-FFF2-40B4-BE49-F238E27FC236}">
                <a16:creationId xmlns:a16="http://schemas.microsoft.com/office/drawing/2014/main" id="{52FBA547-3418-25FF-659B-CE378AB956AC}"/>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3FD1192A-5557-207C-6B12-3B5721A33330}"/>
              </a:ext>
            </a:extLst>
          </p:cNvPr>
          <p:cNvSpPr>
            <a:spLocks noGrp="1"/>
          </p:cNvSpPr>
          <p:nvPr>
            <p:ph type="sldNum" idx="12"/>
          </p:nvPr>
        </p:nvSpPr>
        <p:spPr/>
        <p:txBody>
          <a:bodyPr/>
          <a:lstStyle/>
          <a:p>
            <a:fld id="{00000000-1234-1234-1234-123412341234}" type="slidenum">
              <a:rPr lang="en" smtClean="0"/>
              <a:t>11</a:t>
            </a:fld>
            <a:endParaRPr lang="en"/>
          </a:p>
        </p:txBody>
      </p:sp>
      <p:pic>
        <p:nvPicPr>
          <p:cNvPr id="4" name="Image 1">
            <a:extLst>
              <a:ext uri="{FF2B5EF4-FFF2-40B4-BE49-F238E27FC236}">
                <a16:creationId xmlns:a16="http://schemas.microsoft.com/office/drawing/2014/main" id="{1333F365-03A3-4320-6CC4-154EEC01E67A}"/>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720863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7FACBA6B-1C49-2FAD-7A09-9C57B2B1DC62}"/>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30BF14E3-0F29-E8F6-847A-FCCD3766EDB9}"/>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D299782C-3025-B68C-51C4-866D03894796}"/>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4" name="Google Shape;97;p17">
            <a:extLst>
              <a:ext uri="{FF2B5EF4-FFF2-40B4-BE49-F238E27FC236}">
                <a16:creationId xmlns:a16="http://schemas.microsoft.com/office/drawing/2014/main" id="{3EFB10E2-9A8B-F8D9-00E7-D8D320556DE7}"/>
              </a:ext>
            </a:extLst>
          </p:cNvPr>
          <p:cNvSpPr txBox="1">
            <a:spLocks noGrp="1"/>
          </p:cNvSpPr>
          <p:nvPr>
            <p:ph type="body" idx="1"/>
          </p:nvPr>
        </p:nvSpPr>
        <p:spPr>
          <a:xfrm>
            <a:off x="355630" y="1518554"/>
            <a:ext cx="11360800" cy="4896657"/>
          </a:xfrm>
          <a:prstGeom prst="rect">
            <a:avLst/>
          </a:prstGeom>
          <a:noFill/>
          <a:ln>
            <a:noFill/>
          </a:ln>
        </p:spPr>
        <p:txBody>
          <a:bodyPr spcFirstLastPara="1" vert="horz" wrap="square" lIns="121900" tIns="121900" rIns="121900" bIns="121900" rtlCol="0" anchor="t" anchorCtr="0">
            <a:noAutofit/>
          </a:bodyPr>
          <a:lstStyle/>
          <a:p>
            <a:pPr lvl="4">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Module 1: Input and Preprocessing</a:t>
            </a:r>
            <a:endParaRPr lang="en-IN" sz="2400" dirty="0">
              <a:latin typeface="Times New Roman" panose="02020603050405020304" pitchFamily="18" charset="0"/>
              <a:cs typeface="Times New Roman" panose="02020603050405020304" pitchFamily="18" charset="0"/>
            </a:endParaRPr>
          </a:p>
          <a:p>
            <a:pPr lvl="4">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Module 2: Patch embedding</a:t>
            </a:r>
            <a:endParaRPr lang="en-IN" sz="2400" dirty="0">
              <a:latin typeface="Times New Roman" panose="02020603050405020304" pitchFamily="18" charset="0"/>
              <a:cs typeface="Times New Roman" panose="02020603050405020304" pitchFamily="18" charset="0"/>
            </a:endParaRPr>
          </a:p>
          <a:p>
            <a:pPr lvl="4">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Module 3: Vision Transformer Processing </a:t>
            </a:r>
            <a:endParaRPr lang="en-IN" sz="2400" dirty="0">
              <a:latin typeface="Times New Roman" panose="02020603050405020304" pitchFamily="18" charset="0"/>
              <a:cs typeface="Times New Roman" panose="02020603050405020304" pitchFamily="18" charset="0"/>
            </a:endParaRPr>
          </a:p>
          <a:p>
            <a:pPr lvl="4">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Module 4: Classification &amp; Diagnosis</a:t>
            </a:r>
            <a:endParaRPr lang="en-IN" sz="2400" dirty="0">
              <a:latin typeface="Times New Roman" panose="02020603050405020304" pitchFamily="18" charset="0"/>
              <a:cs typeface="Times New Roman" panose="02020603050405020304" pitchFamily="18" charset="0"/>
            </a:endParaRPr>
          </a:p>
          <a:p>
            <a:pPr lvl="4">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Module 5: Explainability and Output</a:t>
            </a:r>
            <a:endParaRPr lang="en-IN"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39E26F84-6D65-F1F0-2E6F-F7BB72B54A57}"/>
              </a:ext>
            </a:extLst>
          </p:cNvPr>
          <p:cNvSpPr>
            <a:spLocks noGrp="1"/>
          </p:cNvSpPr>
          <p:nvPr>
            <p:ph type="sldNum" idx="12"/>
          </p:nvPr>
        </p:nvSpPr>
        <p:spPr/>
        <p:txBody>
          <a:bodyPr/>
          <a:lstStyle/>
          <a:p>
            <a:fld id="{00000000-1234-1234-1234-123412341234}" type="slidenum">
              <a:rPr lang="en" smtClean="0"/>
              <a:t>12</a:t>
            </a:fld>
            <a:endParaRPr lang="en" dirty="0"/>
          </a:p>
        </p:txBody>
      </p:sp>
      <p:pic>
        <p:nvPicPr>
          <p:cNvPr id="3" name="Image 1">
            <a:extLst>
              <a:ext uri="{FF2B5EF4-FFF2-40B4-BE49-F238E27FC236}">
                <a16:creationId xmlns:a16="http://schemas.microsoft.com/office/drawing/2014/main" id="{F4682AF9-780A-FBC8-9593-E85FE7EADFA1}"/>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3831643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1F2BAA69-211F-86C8-3F3C-B3490D8D585A}"/>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3E3E0B81-6E1A-FF34-9FDE-EFDE8592CB6D}"/>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F945CF47-B831-820B-D137-32DBD709D911}"/>
              </a:ext>
            </a:extLst>
          </p:cNvPr>
          <p:cNvSpPr txBox="1">
            <a:spLocks noGrp="1"/>
          </p:cNvSpPr>
          <p:nvPr>
            <p:ph type="body" idx="1"/>
          </p:nvPr>
        </p:nvSpPr>
        <p:spPr>
          <a:xfrm>
            <a:off x="355630" y="1518554"/>
            <a:ext cx="11360800" cy="4896657"/>
          </a:xfrm>
          <a:prstGeom prst="rect">
            <a:avLst/>
          </a:prstGeom>
          <a:noFill/>
          <a:ln>
            <a:noFill/>
          </a:ln>
        </p:spPr>
        <p:txBody>
          <a:bodyPr spcFirstLastPara="1" vert="horz" wrap="square" lIns="121900" tIns="121900" rIns="121900" bIns="121900" rtlCol="0" anchor="t" anchorCtr="0">
            <a:noAutofit/>
          </a:bodyPr>
          <a:lstStyle/>
          <a:p>
            <a:pPr marL="152396" indent="0" algn="just">
              <a:buNone/>
            </a:pPr>
            <a:r>
              <a:rPr lang="en-US" sz="2400" b="1" dirty="0">
                <a:latin typeface="Times New Roman" panose="02020603050405020304" pitchFamily="18" charset="0"/>
                <a:cs typeface="Times New Roman" panose="02020603050405020304" pitchFamily="18" charset="0"/>
              </a:rPr>
              <a:t>Module 1: Input &amp; Preprocessing</a:t>
            </a:r>
          </a:p>
          <a:p>
            <a:pPr marL="152396"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Retinal fundus images are collected from medical datasets or hospitals.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Images are resized to maintain uniform shape and clarity.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Noise, blur, and unwanted parts are reduced for better visibility.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Adjustments like brightness, contrast, and sharpness are applied.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cleaned and standardized images are prepared for the next step.</a:t>
            </a:r>
          </a:p>
        </p:txBody>
      </p:sp>
      <p:pic>
        <p:nvPicPr>
          <p:cNvPr id="2097160" name="Image 1">
            <a:extLst>
              <a:ext uri="{FF2B5EF4-FFF2-40B4-BE49-F238E27FC236}">
                <a16:creationId xmlns:a16="http://schemas.microsoft.com/office/drawing/2014/main" id="{D628D546-3489-468A-B0F7-552FDE8D36C1}"/>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AE36C619-B9D0-07C1-0095-BD5A0E83C125}"/>
              </a:ext>
            </a:extLst>
          </p:cNvPr>
          <p:cNvSpPr>
            <a:spLocks noGrp="1"/>
          </p:cNvSpPr>
          <p:nvPr>
            <p:ph type="sldNum" idx="12"/>
          </p:nvPr>
        </p:nvSpPr>
        <p:spPr/>
        <p:txBody>
          <a:bodyPr/>
          <a:lstStyle/>
          <a:p>
            <a:fld id="{00000000-1234-1234-1234-123412341234}" type="slidenum">
              <a:rPr lang="en" smtClean="0"/>
              <a:t>13</a:t>
            </a:fld>
            <a:endParaRPr lang="en"/>
          </a:p>
        </p:txBody>
      </p:sp>
      <p:pic>
        <p:nvPicPr>
          <p:cNvPr id="3" name="Image 1">
            <a:extLst>
              <a:ext uri="{FF2B5EF4-FFF2-40B4-BE49-F238E27FC236}">
                <a16:creationId xmlns:a16="http://schemas.microsoft.com/office/drawing/2014/main" id="{640C4A58-7E69-885F-C93F-E62F69D56721}"/>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3770789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92E301D5-090D-8681-E5C5-3C958982E101}"/>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B408A9BB-17C0-228C-63C9-F47421EE0CB8}"/>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00507A14-8F08-A2DD-1EE8-9B68319EBAD2}"/>
              </a:ext>
            </a:extLst>
          </p:cNvPr>
          <p:cNvSpPr txBox="1">
            <a:spLocks noGrp="1"/>
          </p:cNvSpPr>
          <p:nvPr>
            <p:ph type="body" idx="1"/>
          </p:nvPr>
        </p:nvSpPr>
        <p:spPr>
          <a:xfrm>
            <a:off x="355630" y="1439984"/>
            <a:ext cx="11360800" cy="4896657"/>
          </a:xfrm>
          <a:prstGeom prst="rect">
            <a:avLst/>
          </a:prstGeom>
          <a:noFill/>
          <a:ln>
            <a:noFill/>
          </a:ln>
        </p:spPr>
        <p:txBody>
          <a:bodyPr spcFirstLastPara="1" vert="horz" wrap="square" lIns="121900" tIns="121900" rIns="121900" bIns="121900" rtlCol="0" anchor="t" anchorCtr="0">
            <a:noAutofit/>
          </a:bodyPr>
          <a:lstStyle/>
          <a:p>
            <a:pPr marL="152396" indent="0" algn="just">
              <a:buNone/>
            </a:pPr>
            <a:r>
              <a:rPr lang="en-US" sz="2400" b="1" dirty="0">
                <a:latin typeface="Times New Roman" panose="02020603050405020304" pitchFamily="18" charset="0"/>
                <a:cs typeface="Times New Roman" panose="02020603050405020304" pitchFamily="18" charset="0"/>
              </a:rPr>
              <a:t>Module 2: Patch Embedding</a:t>
            </a:r>
          </a:p>
          <a:p>
            <a:pPr algn="just"/>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Each image is divided into smaller, equal-sized patches.</a:t>
            </a:r>
          </a:p>
          <a:p>
            <a:pPr marL="152396"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Patches are flattened into numerical values for computer understanding.</a:t>
            </a:r>
          </a:p>
          <a:p>
            <a:pPr marL="152396"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Extra information is added to remember each patch’s position.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All patches are arranged in a sequence like words in a sentence.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sequence becomes the input for the Vision Transformer.</a:t>
            </a:r>
          </a:p>
          <a:p>
            <a:pPr algn="just"/>
            <a:endParaRPr lang="en-US" sz="2200" dirty="0">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673C5D13-7FF3-A3D3-E7BF-2F415E6324FC}"/>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A9ED489D-3738-00DD-D7A9-8530ADD54EB2}"/>
              </a:ext>
            </a:extLst>
          </p:cNvPr>
          <p:cNvSpPr>
            <a:spLocks noGrp="1"/>
          </p:cNvSpPr>
          <p:nvPr>
            <p:ph type="sldNum" idx="12"/>
          </p:nvPr>
        </p:nvSpPr>
        <p:spPr/>
        <p:txBody>
          <a:bodyPr/>
          <a:lstStyle/>
          <a:p>
            <a:fld id="{00000000-1234-1234-1234-123412341234}" type="slidenum">
              <a:rPr lang="en" smtClean="0"/>
              <a:t>14</a:t>
            </a:fld>
            <a:endParaRPr lang="en"/>
          </a:p>
        </p:txBody>
      </p:sp>
      <p:pic>
        <p:nvPicPr>
          <p:cNvPr id="3" name="Image 1">
            <a:extLst>
              <a:ext uri="{FF2B5EF4-FFF2-40B4-BE49-F238E27FC236}">
                <a16:creationId xmlns:a16="http://schemas.microsoft.com/office/drawing/2014/main" id="{BEF93919-C419-8086-00C3-B1E9B68AD846}"/>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244345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B582F283-EBDC-52D1-8146-408114461DEC}"/>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F24F3A7A-AE88-1076-9D3F-D2DCD7194D3B}"/>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871EA2AF-7706-27B3-286A-B6A93205D59E}"/>
              </a:ext>
            </a:extLst>
          </p:cNvPr>
          <p:cNvSpPr txBox="1">
            <a:spLocks noGrp="1"/>
          </p:cNvSpPr>
          <p:nvPr>
            <p:ph type="body" idx="1"/>
          </p:nvPr>
        </p:nvSpPr>
        <p:spPr>
          <a:xfrm>
            <a:off x="355630" y="1414338"/>
            <a:ext cx="11360800" cy="4896657"/>
          </a:xfrm>
          <a:prstGeom prst="rect">
            <a:avLst/>
          </a:prstGeom>
          <a:noFill/>
          <a:ln>
            <a:noFill/>
          </a:ln>
        </p:spPr>
        <p:txBody>
          <a:bodyPr spcFirstLastPara="1" vert="horz" wrap="square" lIns="121900" tIns="121900" rIns="121900" bIns="121900" rtlCol="0" anchor="t" anchorCtr="0">
            <a:noAutofit/>
          </a:bodyPr>
          <a:lstStyle/>
          <a:p>
            <a:pPr marL="152396" indent="0">
              <a:buNone/>
            </a:pPr>
            <a:r>
              <a:rPr lang="en-US" sz="2400" b="1" dirty="0">
                <a:latin typeface="Times New Roman" panose="02020603050405020304" pitchFamily="18" charset="0"/>
                <a:cs typeface="Times New Roman" panose="02020603050405020304" pitchFamily="18" charset="0"/>
              </a:rPr>
              <a:t>Module 3: Vision Transformer (</a:t>
            </a:r>
            <a:r>
              <a:rPr lang="en-US" sz="2400" b="1" dirty="0" err="1">
                <a:latin typeface="Times New Roman" panose="02020603050405020304" pitchFamily="18" charset="0"/>
                <a:cs typeface="Times New Roman" panose="02020603050405020304" pitchFamily="18" charset="0"/>
              </a:rPr>
              <a:t>ViT</a:t>
            </a:r>
            <a:r>
              <a:rPr lang="en-US" sz="2400" b="1" dirty="0">
                <a:latin typeface="Times New Roman" panose="02020603050405020304" pitchFamily="18" charset="0"/>
                <a:cs typeface="Times New Roman" panose="02020603050405020304" pitchFamily="18" charset="0"/>
              </a:rPr>
              <a:t>) Processing</a:t>
            </a:r>
          </a:p>
          <a:p>
            <a:pPr marL="152396" indent="0">
              <a:buNone/>
            </a:pPr>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model analyzes the patch sequence using self-attention.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Relationships between different image regions are identified.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Both overall (global) patterns and local details are learned.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Multiple layers refine and improve the feature extraction.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complete feature representation of the image is produced.</a:t>
            </a:r>
            <a:endParaRPr lang="en-US" sz="2200" dirty="0">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A79637C6-05D5-6DC6-E73E-32A868F1D955}"/>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1BC6520F-52EA-FF80-3A3D-D9E3A02234E6}"/>
              </a:ext>
            </a:extLst>
          </p:cNvPr>
          <p:cNvSpPr>
            <a:spLocks noGrp="1"/>
          </p:cNvSpPr>
          <p:nvPr>
            <p:ph type="sldNum" idx="12"/>
          </p:nvPr>
        </p:nvSpPr>
        <p:spPr/>
        <p:txBody>
          <a:bodyPr/>
          <a:lstStyle/>
          <a:p>
            <a:fld id="{00000000-1234-1234-1234-123412341234}" type="slidenum">
              <a:rPr lang="en" smtClean="0"/>
              <a:t>15</a:t>
            </a:fld>
            <a:endParaRPr lang="en"/>
          </a:p>
        </p:txBody>
      </p:sp>
      <p:pic>
        <p:nvPicPr>
          <p:cNvPr id="3" name="Image 1">
            <a:extLst>
              <a:ext uri="{FF2B5EF4-FFF2-40B4-BE49-F238E27FC236}">
                <a16:creationId xmlns:a16="http://schemas.microsoft.com/office/drawing/2014/main" id="{EA5A0653-2FBE-3AD5-B629-372CC98DF3D9}"/>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91219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B8B52A8D-935C-8622-DEBE-1A2ABF7F9C56}"/>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39D6A7D7-2D0C-E75D-8723-6094F9AE05C8}"/>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BCD05F8A-8748-C836-1875-2D0B46DD2C15}"/>
              </a:ext>
            </a:extLst>
          </p:cNvPr>
          <p:cNvSpPr txBox="1">
            <a:spLocks noGrp="1"/>
          </p:cNvSpPr>
          <p:nvPr>
            <p:ph type="body" idx="1"/>
          </p:nvPr>
        </p:nvSpPr>
        <p:spPr>
          <a:xfrm>
            <a:off x="355630" y="1439984"/>
            <a:ext cx="11360800" cy="4896657"/>
          </a:xfrm>
          <a:prstGeom prst="rect">
            <a:avLst/>
          </a:prstGeom>
          <a:noFill/>
          <a:ln>
            <a:noFill/>
          </a:ln>
        </p:spPr>
        <p:txBody>
          <a:bodyPr spcFirstLastPara="1" vert="horz" wrap="square" lIns="121900" tIns="121900" rIns="121900" bIns="121900" rtlCol="0" anchor="t" anchorCtr="0">
            <a:noAutofit/>
          </a:bodyPr>
          <a:lstStyle/>
          <a:p>
            <a:pPr marL="152396" indent="0">
              <a:buNone/>
            </a:pPr>
            <a:r>
              <a:rPr lang="en-US" sz="2400" b="1" dirty="0">
                <a:latin typeface="Times New Roman" panose="02020603050405020304" pitchFamily="18" charset="0"/>
                <a:cs typeface="Times New Roman" panose="02020603050405020304" pitchFamily="18" charset="0"/>
              </a:rPr>
              <a:t>Module 4: Classification &amp; Diagnosis</a:t>
            </a:r>
          </a:p>
          <a:p>
            <a:pPr marL="152396" indent="0">
              <a:buNone/>
            </a:pPr>
            <a:endParaRPr lang="en-US" sz="2400" b="1"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Extracted features are passed into a classifier layer.</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 model predicts the severity of DR into five levels: No DR, Mild, Moderate, Severe, and Proliferative.</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For quick screening, it can also predict simply as DR or No DR.</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Performance is measured using accuracy, sensitivity, and specificity.</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Final diagnosis results are generated based on the predictions.</a:t>
            </a:r>
          </a:p>
        </p:txBody>
      </p:sp>
      <p:pic>
        <p:nvPicPr>
          <p:cNvPr id="2097160" name="Image 1">
            <a:extLst>
              <a:ext uri="{FF2B5EF4-FFF2-40B4-BE49-F238E27FC236}">
                <a16:creationId xmlns:a16="http://schemas.microsoft.com/office/drawing/2014/main" id="{CC972232-A78E-370A-0546-C8DF35D37EAD}"/>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F3D90FF0-4CB2-C158-6A36-0595310F8C49}"/>
              </a:ext>
            </a:extLst>
          </p:cNvPr>
          <p:cNvSpPr>
            <a:spLocks noGrp="1"/>
          </p:cNvSpPr>
          <p:nvPr>
            <p:ph type="sldNum" idx="12"/>
          </p:nvPr>
        </p:nvSpPr>
        <p:spPr/>
        <p:txBody>
          <a:bodyPr/>
          <a:lstStyle/>
          <a:p>
            <a:fld id="{00000000-1234-1234-1234-123412341234}" type="slidenum">
              <a:rPr lang="en" smtClean="0"/>
              <a:t>16</a:t>
            </a:fld>
            <a:endParaRPr lang="en"/>
          </a:p>
        </p:txBody>
      </p:sp>
      <p:pic>
        <p:nvPicPr>
          <p:cNvPr id="3" name="Image 1">
            <a:extLst>
              <a:ext uri="{FF2B5EF4-FFF2-40B4-BE49-F238E27FC236}">
                <a16:creationId xmlns:a16="http://schemas.microsoft.com/office/drawing/2014/main" id="{E10FF70C-2F70-C1A5-A4B6-A50E25B605BC}"/>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462624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2789C81-1EA2-B800-FFFE-2D07EE5F2043}"/>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22CEE562-47D8-1E16-31B9-8C86CEC45D06}"/>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Modules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2B3CA9AF-0D1B-21B0-74C3-10CA0C842C1B}"/>
              </a:ext>
            </a:extLst>
          </p:cNvPr>
          <p:cNvSpPr txBox="1">
            <a:spLocks noGrp="1"/>
          </p:cNvSpPr>
          <p:nvPr>
            <p:ph type="body" idx="1"/>
          </p:nvPr>
        </p:nvSpPr>
        <p:spPr>
          <a:xfrm>
            <a:off x="355630" y="1439984"/>
            <a:ext cx="11360800" cy="4896657"/>
          </a:xfrm>
          <a:prstGeom prst="rect">
            <a:avLst/>
          </a:prstGeom>
          <a:noFill/>
          <a:ln>
            <a:noFill/>
          </a:ln>
        </p:spPr>
        <p:txBody>
          <a:bodyPr spcFirstLastPara="1" vert="horz" wrap="square" lIns="121900" tIns="121900" rIns="121900" bIns="121900" rtlCol="0" anchor="t" anchorCtr="0">
            <a:noAutofit/>
          </a:bodyPr>
          <a:lstStyle/>
          <a:p>
            <a:pPr marL="152396" indent="0">
              <a:buNone/>
            </a:pPr>
            <a:r>
              <a:rPr lang="en-US" sz="2400" b="1" dirty="0">
                <a:latin typeface="Times New Roman" panose="02020603050405020304" pitchFamily="18" charset="0"/>
                <a:cs typeface="Times New Roman" panose="02020603050405020304" pitchFamily="18" charset="0"/>
              </a:rPr>
              <a:t>Module 5: Explainability &amp; Output</a:t>
            </a:r>
          </a:p>
          <a:p>
            <a:pPr marL="152396" indent="0">
              <a:buNone/>
            </a:pP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highlights the specific regions used for diagnosis.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Heatmaps or attention maps are generated for better clarity.</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Doctors and users can visually verify the prediction results.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Final diagnosis and visualization are displayed as output.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increases reliability and trust for clinical usage.</a:t>
            </a:r>
          </a:p>
          <a:p>
            <a:pPr algn="just"/>
            <a:endParaRPr lang="en-US" sz="2200" dirty="0">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0ED12424-6E8B-867B-D621-04CBC4DCF5E5}"/>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558F1988-F7FB-4938-C286-5718BC88D08D}"/>
              </a:ext>
            </a:extLst>
          </p:cNvPr>
          <p:cNvSpPr>
            <a:spLocks noGrp="1"/>
          </p:cNvSpPr>
          <p:nvPr>
            <p:ph type="sldNum" idx="12"/>
          </p:nvPr>
        </p:nvSpPr>
        <p:spPr/>
        <p:txBody>
          <a:bodyPr/>
          <a:lstStyle/>
          <a:p>
            <a:fld id="{00000000-1234-1234-1234-123412341234}" type="slidenum">
              <a:rPr lang="en" smtClean="0"/>
              <a:t>17</a:t>
            </a:fld>
            <a:endParaRPr lang="en"/>
          </a:p>
        </p:txBody>
      </p:sp>
      <p:pic>
        <p:nvPicPr>
          <p:cNvPr id="3" name="Image 1">
            <a:extLst>
              <a:ext uri="{FF2B5EF4-FFF2-40B4-BE49-F238E27FC236}">
                <a16:creationId xmlns:a16="http://schemas.microsoft.com/office/drawing/2014/main" id="{3C801AB9-42CA-F292-8592-731B3863E569}"/>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955748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7">
            <a:extLst>
              <a:ext uri="{FF2B5EF4-FFF2-40B4-BE49-F238E27FC236}">
                <a16:creationId xmlns:a16="http://schemas.microsoft.com/office/drawing/2014/main" id="{7317F4D9-159F-E810-24EF-42D11AD42700}"/>
              </a:ext>
            </a:extLst>
          </p:cNvPr>
          <p:cNvSpPr txBox="1">
            <a:spLocks/>
          </p:cNvSpPr>
          <p:nvPr/>
        </p:nvSpPr>
        <p:spPr>
          <a:xfrm>
            <a:off x="415600" y="41714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solidFill>
                  <a:srgbClr val="FF0000"/>
                </a:solidFill>
                <a:latin typeface="Times New Roman" panose="02020603050405020304" pitchFamily="18" charset="0"/>
                <a:cs typeface="Times New Roman" panose="02020603050405020304" pitchFamily="18" charset="0"/>
              </a:rPr>
              <a:t>Architecture</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DF457C0D-C4D8-3913-4ED8-74767CA2A731}"/>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pic>
        <p:nvPicPr>
          <p:cNvPr id="5" name="Picture 4">
            <a:extLst>
              <a:ext uri="{FF2B5EF4-FFF2-40B4-BE49-F238E27FC236}">
                <a16:creationId xmlns:a16="http://schemas.microsoft.com/office/drawing/2014/main" id="{F2A2D1E1-818C-E8E4-0577-6BA86A3F716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5800" y="1513490"/>
            <a:ext cx="6341157" cy="4774137"/>
          </a:xfrm>
          <a:prstGeom prst="rect">
            <a:avLst/>
          </a:prstGeom>
        </p:spPr>
      </p:pic>
      <p:sp>
        <p:nvSpPr>
          <p:cNvPr id="6" name="Rectangle 3">
            <a:extLst>
              <a:ext uri="{FF2B5EF4-FFF2-40B4-BE49-F238E27FC236}">
                <a16:creationId xmlns:a16="http://schemas.microsoft.com/office/drawing/2014/main" id="{64BEB7E4-2F88-78BC-16F1-A7CD08D384EC}"/>
              </a:ext>
            </a:extLst>
          </p:cNvPr>
          <p:cNvSpPr txBox="1">
            <a:spLocks noChangeArrowheads="1"/>
          </p:cNvSpPr>
          <p:nvPr/>
        </p:nvSpPr>
        <p:spPr bwMode="auto">
          <a:xfrm>
            <a:off x="7665526" y="1295108"/>
            <a:ext cx="405090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00000"/>
              </a:lnSpc>
              <a:spcBef>
                <a:spcPct val="0"/>
              </a:spcBef>
              <a:spcAft>
                <a:spcPct val="0"/>
              </a:spcAft>
              <a:buFontTx/>
              <a:buChar char="•"/>
            </a:pPr>
            <a:endParaRPr 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Retinal fundus images spanning all diabetic retinopathy stages are collected from benchmark datasets.</a:t>
            </a:r>
          </a:p>
          <a:p>
            <a:pPr marL="0" indent="0" algn="just" eaLnBrk="0" fontAlgn="base" hangingPunct="0">
              <a:lnSpc>
                <a:spcPct val="100000"/>
              </a:lnSpc>
              <a:spcBef>
                <a:spcPct val="0"/>
              </a:spcBef>
              <a:spcAft>
                <a:spcPct val="0"/>
              </a:spcAft>
              <a:buNone/>
            </a:pPr>
            <a:endParaRPr 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These images are cleansed, normalized, and resized to ensure quality and consistency for the model.</a:t>
            </a:r>
          </a:p>
          <a:p>
            <a:pPr marL="0" indent="0" algn="just" eaLnBrk="0" fontAlgn="base" hangingPunct="0">
              <a:lnSpc>
                <a:spcPct val="100000"/>
              </a:lnSpc>
              <a:spcBef>
                <a:spcPct val="0"/>
              </a:spcBef>
              <a:spcAft>
                <a:spcPct val="0"/>
              </a:spcAft>
              <a:buNone/>
            </a:pPr>
            <a:endParaRPr 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 Vision Transformer learns both local and global retinal features via self-attention, improving representation.</a:t>
            </a:r>
          </a:p>
          <a:p>
            <a:pPr marL="0" indent="0" algn="just" eaLnBrk="0" fontAlgn="base" hangingPunct="0">
              <a:lnSpc>
                <a:spcPct val="100000"/>
              </a:lnSpc>
              <a:spcBef>
                <a:spcPct val="0"/>
              </a:spcBef>
              <a:spcAft>
                <a:spcPct val="0"/>
              </a:spcAft>
              <a:buNone/>
            </a:pPr>
            <a:endParaRPr 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 model is trained and fine-tuned using key hyperparameters to maximize classification accuracy.</a:t>
            </a:r>
          </a:p>
          <a:p>
            <a:pPr marL="0" indent="0" algn="just" eaLnBrk="0" fontAlgn="base" hangingPunct="0">
              <a:lnSpc>
                <a:spcPct val="10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FontTx/>
              <a:buChar char="•"/>
            </a:pPr>
            <a:endParaRPr lang="en-US" altLang="en-US" sz="18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61BBF2A0-8E5D-C157-46D1-4DE3225BAE1E}"/>
              </a:ext>
            </a:extLst>
          </p:cNvPr>
          <p:cNvSpPr>
            <a:spLocks noGrp="1"/>
          </p:cNvSpPr>
          <p:nvPr>
            <p:ph type="sldNum" sz="quarter" idx="12"/>
          </p:nvPr>
        </p:nvSpPr>
        <p:spPr/>
        <p:txBody>
          <a:bodyPr/>
          <a:lstStyle/>
          <a:p>
            <a:fld id="{BDD15B8C-3E3D-40B6-859E-6DE4B63CF92E}" type="slidenum">
              <a:rPr lang="en-IN" sz="1400" smtClean="0"/>
              <a:t>18</a:t>
            </a:fld>
            <a:endParaRPr lang="en-IN" sz="1400" dirty="0"/>
          </a:p>
        </p:txBody>
      </p:sp>
      <p:cxnSp>
        <p:nvCxnSpPr>
          <p:cNvPr id="11" name="Straight Connector 10">
            <a:extLst>
              <a:ext uri="{FF2B5EF4-FFF2-40B4-BE49-F238E27FC236}">
                <a16:creationId xmlns:a16="http://schemas.microsoft.com/office/drawing/2014/main" id="{71A011DB-35BF-5CAC-B2B9-C23B13BAE1B0}"/>
              </a:ext>
            </a:extLst>
          </p:cNvPr>
          <p:cNvCxnSpPr>
            <a:cxnSpLocks/>
          </p:cNvCxnSpPr>
          <p:nvPr/>
        </p:nvCxnSpPr>
        <p:spPr>
          <a:xfrm>
            <a:off x="7374835" y="1413302"/>
            <a:ext cx="0" cy="4774138"/>
          </a:xfrm>
          <a:prstGeom prst="line">
            <a:avLst/>
          </a:prstGeom>
          <a:ln/>
        </p:spPr>
        <p:style>
          <a:lnRef idx="2">
            <a:schemeClr val="dk1"/>
          </a:lnRef>
          <a:fillRef idx="0">
            <a:schemeClr val="dk1"/>
          </a:fillRef>
          <a:effectRef idx="1">
            <a:schemeClr val="dk1"/>
          </a:effectRef>
          <a:fontRef idx="minor">
            <a:schemeClr val="tx1"/>
          </a:fontRef>
        </p:style>
      </p:cxnSp>
      <p:pic>
        <p:nvPicPr>
          <p:cNvPr id="7" name="Image 1">
            <a:extLst>
              <a:ext uri="{FF2B5EF4-FFF2-40B4-BE49-F238E27FC236}">
                <a16:creationId xmlns:a16="http://schemas.microsoft.com/office/drawing/2014/main" id="{6AE98EC7-92F1-73CE-FBBA-6066E595A5B1}"/>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815584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35F46D49-47E0-6549-6D00-100E9F14BBC9}"/>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89BEC9FB-B07C-F6C6-0FA4-898573941EAC}"/>
              </a:ext>
            </a:extLst>
          </p:cNvPr>
          <p:cNvSpPr txBox="1">
            <a:spLocks noGrp="1"/>
          </p:cNvSpPr>
          <p:nvPr>
            <p:ph type="title"/>
          </p:nvPr>
        </p:nvSpPr>
        <p:spPr>
          <a:xfrm>
            <a:off x="355630" y="260752"/>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Parameters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849C340A-34C0-B092-DCB5-6FB5F4095E5E}"/>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2EBF4B46-4D96-F07E-FB5D-7185F111A425}"/>
              </a:ext>
            </a:extLst>
          </p:cNvPr>
          <p:cNvSpPr>
            <a:spLocks noGrp="1"/>
          </p:cNvSpPr>
          <p:nvPr>
            <p:ph type="sldNum" idx="12"/>
          </p:nvPr>
        </p:nvSpPr>
        <p:spPr/>
        <p:txBody>
          <a:bodyPr/>
          <a:lstStyle/>
          <a:p>
            <a:fld id="{00000000-1234-1234-1234-123412341234}" type="slidenum">
              <a:rPr lang="en" smtClean="0">
                <a:latin typeface="Times New Roman" panose="02020603050405020304" pitchFamily="18" charset="0"/>
                <a:cs typeface="Times New Roman" panose="02020603050405020304" pitchFamily="18" charset="0"/>
              </a:rPr>
              <a:t>19</a:t>
            </a:fld>
            <a:endParaRPr lang="en">
              <a:latin typeface="Times New Roman" panose="02020603050405020304" pitchFamily="18" charset="0"/>
              <a:cs typeface="Times New Roman" panose="02020603050405020304" pitchFamily="18" charset="0"/>
            </a:endParaRPr>
          </a:p>
        </p:txBody>
      </p:sp>
      <p:sp>
        <p:nvSpPr>
          <p:cNvPr id="7" name="Rectangle 4">
            <a:extLst>
              <a:ext uri="{FF2B5EF4-FFF2-40B4-BE49-F238E27FC236}">
                <a16:creationId xmlns:a16="http://schemas.microsoft.com/office/drawing/2014/main" id="{BC22EB87-24D5-304D-A76F-4354944CD651}"/>
              </a:ext>
            </a:extLst>
          </p:cNvPr>
          <p:cNvSpPr>
            <a:spLocks noGrp="1" noChangeArrowheads="1"/>
          </p:cNvSpPr>
          <p:nvPr>
            <p:ph type="body" idx="1"/>
          </p:nvPr>
        </p:nvSpPr>
        <p:spPr bwMode="auto">
          <a:xfrm>
            <a:off x="671309" y="1392194"/>
            <a:ext cx="10914673" cy="510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52396" indent="0">
              <a:buNone/>
            </a:pPr>
            <a:r>
              <a:rPr lang="en-US" sz="1800" b="1" dirty="0">
                <a:latin typeface="Times New Roman" panose="02020603050405020304" pitchFamily="18" charset="0"/>
                <a:cs typeface="Times New Roman" panose="02020603050405020304" pitchFamily="18" charset="0"/>
              </a:rPr>
              <a:t>Patch Embeddings</a:t>
            </a:r>
          </a:p>
          <a:p>
            <a:r>
              <a:rPr lang="en-US" sz="1800" dirty="0">
                <a:latin typeface="Times New Roman" panose="02020603050405020304" pitchFamily="18" charset="0"/>
                <a:cs typeface="Times New Roman" panose="02020603050405020304" pitchFamily="18" charset="0"/>
              </a:rPr>
              <a:t>The input retinal image is divided into fixed-size patches (e.g., 16×16), which are converted into vector representations.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These embeddings act as the fundamental input features that the model learns from.</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Global Context Understanding</a:t>
            </a:r>
          </a:p>
          <a:p>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 captures relationships between distant regions of the image using self-attention.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helps in identifying DR patterns spread across the entire retina.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Local Feature Representation</a:t>
            </a:r>
          </a:p>
          <a:p>
            <a:r>
              <a:rPr lang="en-US" sz="1800" dirty="0">
                <a:latin typeface="Times New Roman" panose="02020603050405020304" pitchFamily="18" charset="0"/>
                <a:cs typeface="Times New Roman" panose="02020603050405020304" pitchFamily="18" charset="0"/>
              </a:rPr>
              <a:t>Each patch helps the model learn fine-grained details such as lesions, exudates, and hemorrhages.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These local features are crucial for detecting early-stage abnormalities.</a:t>
            </a:r>
          </a:p>
          <a:p>
            <a:pPr marL="152396" indent="0">
              <a:buNone/>
            </a:pPr>
            <a:endParaRPr lang="en-US" sz="1800" dirty="0">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Attention Weights (Feature Importance)</a:t>
            </a:r>
          </a:p>
          <a:p>
            <a:r>
              <a:rPr lang="en-US" sz="1800" dirty="0">
                <a:latin typeface="Times New Roman" panose="02020603050405020304" pitchFamily="18" charset="0"/>
                <a:cs typeface="Times New Roman" panose="02020603050405020304" pitchFamily="18" charset="0"/>
              </a:rPr>
              <a:t>The model assigns importance scores to different image patches during processing.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highlights critical regions and improves interpretability of the diagnosis.</a:t>
            </a:r>
          </a:p>
        </p:txBody>
      </p:sp>
      <p:pic>
        <p:nvPicPr>
          <p:cNvPr id="9" name="Image 1">
            <a:extLst>
              <a:ext uri="{FF2B5EF4-FFF2-40B4-BE49-F238E27FC236}">
                <a16:creationId xmlns:a16="http://schemas.microsoft.com/office/drawing/2014/main" id="{2C29549D-747A-CF2C-6903-2E8B2AB88E1B}"/>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291968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419F2D4D-9DC9-F0E6-4E84-C5C7F452BD6B}"/>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3090B8A7-155B-0D1B-DEB9-C01E98DDE38B}"/>
              </a:ext>
            </a:extLst>
          </p:cNvPr>
          <p:cNvSpPr txBox="1">
            <a:spLocks noGrp="1"/>
          </p:cNvSpPr>
          <p:nvPr>
            <p:ph type="title"/>
          </p:nvPr>
        </p:nvSpPr>
        <p:spPr>
          <a:xfrm>
            <a:off x="355630" y="260752"/>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Metrics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C2855F0C-EBB9-F4F9-21F8-4A35D13EB7C8}"/>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897F21F5-F218-1C17-6A38-1B8A5EB01E73}"/>
              </a:ext>
            </a:extLst>
          </p:cNvPr>
          <p:cNvSpPr>
            <a:spLocks noGrp="1"/>
          </p:cNvSpPr>
          <p:nvPr>
            <p:ph type="sldNum" idx="12"/>
          </p:nvPr>
        </p:nvSpPr>
        <p:spPr/>
        <p:txBody>
          <a:bodyPr/>
          <a:lstStyle/>
          <a:p>
            <a:fld id="{00000000-1234-1234-1234-123412341234}" type="slidenum">
              <a:rPr lang="en" smtClean="0">
                <a:latin typeface="Times New Roman" panose="02020603050405020304" pitchFamily="18" charset="0"/>
                <a:cs typeface="Times New Roman" panose="02020603050405020304" pitchFamily="18" charset="0"/>
              </a:rPr>
              <a:t>20</a:t>
            </a:fld>
            <a:endParaRPr lang="en">
              <a:latin typeface="Times New Roman" panose="02020603050405020304" pitchFamily="18" charset="0"/>
              <a:cs typeface="Times New Roman" panose="02020603050405020304" pitchFamily="18" charset="0"/>
            </a:endParaRPr>
          </a:p>
        </p:txBody>
      </p:sp>
      <p:sp>
        <p:nvSpPr>
          <p:cNvPr id="3" name="Google Shape;97;p17">
            <a:extLst>
              <a:ext uri="{FF2B5EF4-FFF2-40B4-BE49-F238E27FC236}">
                <a16:creationId xmlns:a16="http://schemas.microsoft.com/office/drawing/2014/main" id="{D5E2770C-B939-2C1C-EB0E-CC037EB2B52E}"/>
              </a:ext>
            </a:extLst>
          </p:cNvPr>
          <p:cNvSpPr txBox="1">
            <a:spLocks/>
          </p:cNvSpPr>
          <p:nvPr/>
        </p:nvSpPr>
        <p:spPr>
          <a:xfrm>
            <a:off x="548640" y="1385949"/>
            <a:ext cx="10747971" cy="5195831"/>
          </a:xfrm>
          <a:prstGeom prst="rect">
            <a:avLst/>
          </a:prstGeom>
          <a:noFill/>
          <a:ln>
            <a:noFill/>
          </a:ln>
        </p:spPr>
        <p:txBody>
          <a:bodyPr spcFirstLastPara="1" vert="horz" wrap="square" lIns="121900" tIns="121900" rIns="121900" bIns="121900" rtlCol="0" anchor="t" anchorCtr="0">
            <a:noAutofit/>
          </a:bodyPr>
          <a:lstStyle>
            <a:lvl1pPr marL="609585" lvl="0" indent="-457189" algn="l" defTabSz="914400" rtl="0" eaLnBrk="1" latinLnBrk="0" hangingPunct="1">
              <a:lnSpc>
                <a:spcPct val="115000"/>
              </a:lnSpc>
              <a:spcBef>
                <a:spcPts val="0"/>
              </a:spcBef>
              <a:spcAft>
                <a:spcPts val="0"/>
              </a:spcAft>
              <a:buSzPts val="1800"/>
              <a:buFont typeface="Proxima Nova"/>
              <a:buChar char="●"/>
              <a:defRPr sz="2800" kern="1200">
                <a:solidFill>
                  <a:schemeClr val="tx1"/>
                </a:solidFill>
                <a:latin typeface="Proxima Nova"/>
                <a:ea typeface="Proxima Nova"/>
                <a:cs typeface="Proxima Nova"/>
                <a:sym typeface="Proxima Nova"/>
              </a:defRPr>
            </a:lvl1pPr>
            <a:lvl2pPr marL="1219170" lvl="1" indent="-423323" algn="l" defTabSz="914400" rtl="0" eaLnBrk="1" latinLnBrk="0" hangingPunct="1">
              <a:lnSpc>
                <a:spcPct val="115000"/>
              </a:lnSpc>
              <a:spcBef>
                <a:spcPts val="2133"/>
              </a:spcBef>
              <a:spcAft>
                <a:spcPts val="0"/>
              </a:spcAft>
              <a:buSzPts val="1400"/>
              <a:buFont typeface="Proxima Nova"/>
              <a:buChar char="○"/>
              <a:defRPr sz="2400" kern="1200">
                <a:solidFill>
                  <a:schemeClr val="tx1"/>
                </a:solidFill>
                <a:latin typeface="Proxima Nova"/>
                <a:ea typeface="Proxima Nova"/>
                <a:cs typeface="Proxima Nova"/>
                <a:sym typeface="Proxima Nova"/>
              </a:defRPr>
            </a:lvl2pPr>
            <a:lvl3pPr marL="1828754" lvl="2" indent="-423323" algn="l" defTabSz="914400" rtl="0" eaLnBrk="1" latinLnBrk="0" hangingPunct="1">
              <a:lnSpc>
                <a:spcPct val="115000"/>
              </a:lnSpc>
              <a:spcBef>
                <a:spcPts val="2133"/>
              </a:spcBef>
              <a:spcAft>
                <a:spcPts val="0"/>
              </a:spcAft>
              <a:buSzPts val="1400"/>
              <a:buFont typeface="Proxima Nova"/>
              <a:buChar char="■"/>
              <a:defRPr sz="2000" kern="1200">
                <a:solidFill>
                  <a:schemeClr val="tx1"/>
                </a:solidFill>
                <a:latin typeface="Proxima Nova"/>
                <a:ea typeface="Proxima Nova"/>
                <a:cs typeface="Proxima Nova"/>
                <a:sym typeface="Proxima Nova"/>
              </a:defRPr>
            </a:lvl3pPr>
            <a:lvl4pPr marL="2438339" lvl="3" indent="-423323" algn="l" defTabSz="914400" rtl="0" eaLnBrk="1" latinLnBrk="0" hangingPunct="1">
              <a:lnSpc>
                <a:spcPct val="115000"/>
              </a:lnSpc>
              <a:spcBef>
                <a:spcPts val="2133"/>
              </a:spcBef>
              <a:spcAft>
                <a:spcPts val="0"/>
              </a:spcAft>
              <a:buSzPts val="1400"/>
              <a:buFont typeface="Proxima Nova"/>
              <a:buChar char="●"/>
              <a:defRPr sz="1800" kern="1200">
                <a:solidFill>
                  <a:schemeClr val="tx1"/>
                </a:solidFill>
                <a:latin typeface="Proxima Nova"/>
                <a:ea typeface="Proxima Nova"/>
                <a:cs typeface="Proxima Nova"/>
                <a:sym typeface="Proxima Nova"/>
              </a:defRPr>
            </a:lvl4pPr>
            <a:lvl5pPr marL="3047924" lvl="4" indent="-423323" algn="l" defTabSz="914400" rtl="0" eaLnBrk="1" latinLnBrk="0" hangingPunct="1">
              <a:lnSpc>
                <a:spcPct val="115000"/>
              </a:lnSpc>
              <a:spcBef>
                <a:spcPts val="2133"/>
              </a:spcBef>
              <a:spcAft>
                <a:spcPts val="0"/>
              </a:spcAft>
              <a:buSzPts val="1400"/>
              <a:buFont typeface="Proxima Nova"/>
              <a:buChar char="○"/>
              <a:defRPr sz="1800" kern="1200">
                <a:solidFill>
                  <a:schemeClr val="tx1"/>
                </a:solidFill>
                <a:latin typeface="Proxima Nova"/>
                <a:ea typeface="Proxima Nova"/>
                <a:cs typeface="Proxima Nova"/>
                <a:sym typeface="Proxima Nova"/>
              </a:defRPr>
            </a:lvl5pPr>
            <a:lvl6pPr marL="3657509" lvl="5" indent="-423323" algn="l" defTabSz="914400" rtl="0" eaLnBrk="1" latinLnBrk="0" hangingPunct="1">
              <a:lnSpc>
                <a:spcPct val="115000"/>
              </a:lnSpc>
              <a:spcBef>
                <a:spcPts val="2133"/>
              </a:spcBef>
              <a:spcAft>
                <a:spcPts val="0"/>
              </a:spcAft>
              <a:buSzPts val="1400"/>
              <a:buFont typeface="Proxima Nova"/>
              <a:buChar char="■"/>
              <a:defRPr sz="1800" kern="1200">
                <a:solidFill>
                  <a:schemeClr val="tx1"/>
                </a:solidFill>
                <a:latin typeface="Proxima Nova"/>
                <a:ea typeface="Proxima Nova"/>
                <a:cs typeface="Proxima Nova"/>
                <a:sym typeface="Proxima Nova"/>
              </a:defRPr>
            </a:lvl6pPr>
            <a:lvl7pPr marL="4267093" lvl="6" indent="-423323" algn="l" defTabSz="914400" rtl="0" eaLnBrk="1" latinLnBrk="0" hangingPunct="1">
              <a:lnSpc>
                <a:spcPct val="115000"/>
              </a:lnSpc>
              <a:spcBef>
                <a:spcPts val="2133"/>
              </a:spcBef>
              <a:spcAft>
                <a:spcPts val="0"/>
              </a:spcAft>
              <a:buSzPts val="1400"/>
              <a:buFont typeface="Proxima Nova"/>
              <a:buChar char="●"/>
              <a:defRPr sz="1800" kern="1200">
                <a:solidFill>
                  <a:schemeClr val="tx1"/>
                </a:solidFill>
                <a:latin typeface="Proxima Nova"/>
                <a:ea typeface="Proxima Nova"/>
                <a:cs typeface="Proxima Nova"/>
                <a:sym typeface="Proxima Nova"/>
              </a:defRPr>
            </a:lvl7pPr>
            <a:lvl8pPr marL="4876678" lvl="7" indent="-423323" algn="l" defTabSz="914400" rtl="0" eaLnBrk="1" latinLnBrk="0" hangingPunct="1">
              <a:lnSpc>
                <a:spcPct val="115000"/>
              </a:lnSpc>
              <a:spcBef>
                <a:spcPts val="2133"/>
              </a:spcBef>
              <a:spcAft>
                <a:spcPts val="0"/>
              </a:spcAft>
              <a:buSzPts val="1400"/>
              <a:buFont typeface="Proxima Nova"/>
              <a:buChar char="○"/>
              <a:defRPr sz="1800" kern="1200">
                <a:solidFill>
                  <a:schemeClr val="tx1"/>
                </a:solidFill>
                <a:latin typeface="Proxima Nova"/>
                <a:ea typeface="Proxima Nova"/>
                <a:cs typeface="Proxima Nova"/>
                <a:sym typeface="Proxima Nova"/>
              </a:defRPr>
            </a:lvl8pPr>
            <a:lvl9pPr marL="5486263" lvl="8" indent="-423323" algn="l" defTabSz="914400" rtl="0" eaLnBrk="1" latinLnBrk="0" hangingPunct="1">
              <a:lnSpc>
                <a:spcPct val="115000"/>
              </a:lnSpc>
              <a:spcBef>
                <a:spcPts val="2133"/>
              </a:spcBef>
              <a:spcAft>
                <a:spcPts val="2133"/>
              </a:spcAft>
              <a:buSzPts val="1400"/>
              <a:buFont typeface="Proxima Nova"/>
              <a:buChar char="■"/>
              <a:defRPr sz="1800" kern="1200">
                <a:solidFill>
                  <a:schemeClr val="tx1"/>
                </a:solidFill>
                <a:latin typeface="Proxima Nova"/>
                <a:ea typeface="Proxima Nova"/>
                <a:cs typeface="Proxima Nova"/>
                <a:sym typeface="Proxima Nova"/>
              </a:defRPr>
            </a:lvl9pPr>
          </a:lstStyle>
          <a:p>
            <a:pPr marL="152396" indent="0">
              <a:buNone/>
            </a:pPr>
            <a:r>
              <a:rPr lang="en-US" sz="1800" b="1" dirty="0">
                <a:latin typeface="Times New Roman" panose="02020603050405020304" pitchFamily="18" charset="0"/>
                <a:cs typeface="Times New Roman" panose="02020603050405020304" pitchFamily="18" charset="0"/>
              </a:rPr>
              <a:t>Accuracy</a:t>
            </a:r>
          </a:p>
          <a:p>
            <a:r>
              <a:rPr lang="en-US" sz="1800" dirty="0">
                <a:latin typeface="Times New Roman" panose="02020603050405020304" pitchFamily="18" charset="0"/>
                <a:cs typeface="Times New Roman" panose="02020603050405020304" pitchFamily="18" charset="0"/>
              </a:rPr>
              <a:t>Measures the overall percentage of correctly classified retinal images.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provides a general idea of model performance but may be misleading for imbalanced datasets.</a:t>
            </a:r>
          </a:p>
          <a:p>
            <a:pPr marL="152396" indent="0">
              <a:buNone/>
            </a:pPr>
            <a:endParaRPr lang="en-US" sz="1800" dirty="0">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F1-Score</a:t>
            </a:r>
          </a:p>
          <a:p>
            <a:r>
              <a:rPr lang="en-US" sz="1800" dirty="0">
                <a:latin typeface="Times New Roman" panose="02020603050405020304" pitchFamily="18" charset="0"/>
                <a:cs typeface="Times New Roman" panose="02020603050405020304" pitchFamily="18" charset="0"/>
              </a:rPr>
              <a:t>The harmonic mean of precision and recall, balancing false positives and false negatives.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is especially important for medical datasets where class imbalance exists.</a:t>
            </a:r>
          </a:p>
          <a:p>
            <a:pPr marL="152396" indent="0">
              <a:buNone/>
            </a:pPr>
            <a:endParaRPr lang="en-US" sz="1800" dirty="0">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Sensitivity (Recall)</a:t>
            </a:r>
          </a:p>
          <a:p>
            <a:r>
              <a:rPr lang="en-US" sz="1800" dirty="0">
                <a:latin typeface="Times New Roman" panose="02020603050405020304" pitchFamily="18" charset="0"/>
                <a:cs typeface="Times New Roman" panose="02020603050405020304" pitchFamily="18" charset="0"/>
              </a:rPr>
              <a:t>Measures the model’s ability to correctly identify actual DR cases.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High sensitivity is critical to ensure that affected patients are not missed.</a:t>
            </a:r>
          </a:p>
          <a:p>
            <a:pPr marL="152396" indent="0">
              <a:buNone/>
            </a:pPr>
            <a:endParaRPr lang="en-US" sz="1800" dirty="0">
              <a:latin typeface="Times New Roman" panose="02020603050405020304" pitchFamily="18" charset="0"/>
              <a:cs typeface="Times New Roman" panose="02020603050405020304" pitchFamily="18" charset="0"/>
            </a:endParaRPr>
          </a:p>
          <a:p>
            <a:pPr marL="152396" indent="0">
              <a:buNone/>
            </a:pPr>
            <a:r>
              <a:rPr lang="en-US" sz="1800" b="1" dirty="0">
                <a:latin typeface="Times New Roman" panose="02020603050405020304" pitchFamily="18" charset="0"/>
                <a:cs typeface="Times New Roman" panose="02020603050405020304" pitchFamily="18" charset="0"/>
              </a:rPr>
              <a:t>Support</a:t>
            </a:r>
          </a:p>
          <a:p>
            <a:r>
              <a:rPr lang="en-US" sz="1800" dirty="0">
                <a:latin typeface="Times New Roman" panose="02020603050405020304" pitchFamily="18" charset="0"/>
                <a:cs typeface="Times New Roman" panose="02020603050405020304" pitchFamily="18" charset="0"/>
              </a:rPr>
              <a:t>Represents the number of actual instances of each class present in the dataset.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It helps in understanding class distribution and evaluating model performance across different categories.</a:t>
            </a:r>
          </a:p>
          <a:p>
            <a:pPr marL="152396" indent="0">
              <a:buNone/>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lnSpc>
                <a:spcPct val="100000"/>
              </a:lnSpc>
              <a:spcBef>
                <a:spcPct val="0"/>
              </a:spcBef>
              <a:spcAft>
                <a:spcPct val="0"/>
              </a:spcAft>
              <a:buSzTx/>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p:txBody>
      </p:sp>
      <p:pic>
        <p:nvPicPr>
          <p:cNvPr id="5" name="Image 1">
            <a:extLst>
              <a:ext uri="{FF2B5EF4-FFF2-40B4-BE49-F238E27FC236}">
                <a16:creationId xmlns:a16="http://schemas.microsoft.com/office/drawing/2014/main" id="{E70FB6F1-660A-6A98-1C40-BCE05BFCBE4F}"/>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930390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7">
            <a:extLst>
              <a:ext uri="{FF2B5EF4-FFF2-40B4-BE49-F238E27FC236}">
                <a16:creationId xmlns:a16="http://schemas.microsoft.com/office/drawing/2014/main" id="{4C24BE00-ECFE-7B9E-2786-0368C3D91562}"/>
              </a:ext>
            </a:extLst>
          </p:cNvPr>
          <p:cNvSpPr txBox="1">
            <a:spLocks/>
          </p:cNvSpPr>
          <p:nvPr/>
        </p:nvSpPr>
        <p:spPr>
          <a:xfrm>
            <a:off x="415600" y="307166"/>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72A20C29-CEE7-C7FD-262C-340DABBBD046}"/>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pic>
        <p:nvPicPr>
          <p:cNvPr id="5" name="Picture 4">
            <a:extLst>
              <a:ext uri="{FF2B5EF4-FFF2-40B4-BE49-F238E27FC236}">
                <a16:creationId xmlns:a16="http://schemas.microsoft.com/office/drawing/2014/main" id="{8BFF23CC-E56F-817D-E6DC-938C4337EF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67853" y="1388692"/>
            <a:ext cx="7256293" cy="5262261"/>
          </a:xfrm>
          <a:prstGeom prst="rect">
            <a:avLst/>
          </a:prstGeom>
        </p:spPr>
      </p:pic>
      <p:sp>
        <p:nvSpPr>
          <p:cNvPr id="6" name="Slide Number Placeholder 5">
            <a:extLst>
              <a:ext uri="{FF2B5EF4-FFF2-40B4-BE49-F238E27FC236}">
                <a16:creationId xmlns:a16="http://schemas.microsoft.com/office/drawing/2014/main" id="{779387BE-66E6-9B23-4C6A-4C4F59FD5EAE}"/>
              </a:ext>
            </a:extLst>
          </p:cNvPr>
          <p:cNvSpPr>
            <a:spLocks noGrp="1"/>
          </p:cNvSpPr>
          <p:nvPr>
            <p:ph type="sldNum" sz="quarter" idx="12"/>
          </p:nvPr>
        </p:nvSpPr>
        <p:spPr/>
        <p:txBody>
          <a:bodyPr/>
          <a:lstStyle/>
          <a:p>
            <a:fld id="{BDD15B8C-3E3D-40B6-859E-6DE4B63CF92E}" type="slidenum">
              <a:rPr lang="en-IN" smtClean="0"/>
              <a:t>21</a:t>
            </a:fld>
            <a:endParaRPr lang="en-IN" dirty="0"/>
          </a:p>
        </p:txBody>
      </p:sp>
      <p:pic>
        <p:nvPicPr>
          <p:cNvPr id="7" name="Image 1">
            <a:extLst>
              <a:ext uri="{FF2B5EF4-FFF2-40B4-BE49-F238E27FC236}">
                <a16:creationId xmlns:a16="http://schemas.microsoft.com/office/drawing/2014/main" id="{BBAF7E09-51CC-D3EC-9BE3-04C795041209}"/>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091585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7">
            <a:extLst>
              <a:ext uri="{FF2B5EF4-FFF2-40B4-BE49-F238E27FC236}">
                <a16:creationId xmlns:a16="http://schemas.microsoft.com/office/drawing/2014/main" id="{A77CF784-371C-7A43-4426-030D92341039}"/>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DE557956-8848-1DE2-8494-3508913E4839}"/>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pic>
        <p:nvPicPr>
          <p:cNvPr id="5" name="Picture 4">
            <a:extLst>
              <a:ext uri="{FF2B5EF4-FFF2-40B4-BE49-F238E27FC236}">
                <a16:creationId xmlns:a16="http://schemas.microsoft.com/office/drawing/2014/main" id="{D380B5D7-4DBD-A632-0360-28804FF1C9D7}"/>
              </a:ext>
            </a:extLst>
          </p:cNvPr>
          <p:cNvPicPr>
            <a:picLocks noChangeAspect="1"/>
          </p:cNvPicPr>
          <p:nvPr/>
        </p:nvPicPr>
        <p:blipFill>
          <a:blip r:embed="rId3">
            <a:extLst>
              <a:ext uri="{28A0092B-C50C-407E-A947-70E740481C1C}">
                <a14:useLocalDpi xmlns:a14="http://schemas.microsoft.com/office/drawing/2010/main" val="0"/>
              </a:ext>
            </a:extLst>
          </a:blip>
          <a:srcRect l="1930" t="1477" r="1211" b="2615"/>
          <a:stretch>
            <a:fillRect/>
          </a:stretch>
        </p:blipFill>
        <p:spPr>
          <a:xfrm>
            <a:off x="1470992" y="1341783"/>
            <a:ext cx="9193696" cy="4880113"/>
          </a:xfrm>
          <a:prstGeom prst="rect">
            <a:avLst/>
          </a:prstGeom>
        </p:spPr>
      </p:pic>
      <p:sp>
        <p:nvSpPr>
          <p:cNvPr id="6" name="Slide Number Placeholder 5">
            <a:extLst>
              <a:ext uri="{FF2B5EF4-FFF2-40B4-BE49-F238E27FC236}">
                <a16:creationId xmlns:a16="http://schemas.microsoft.com/office/drawing/2014/main" id="{76522C89-1DD7-87F9-09BA-A56F26A97A50}"/>
              </a:ext>
            </a:extLst>
          </p:cNvPr>
          <p:cNvSpPr>
            <a:spLocks noGrp="1"/>
          </p:cNvSpPr>
          <p:nvPr>
            <p:ph type="sldNum" sz="quarter" idx="12"/>
          </p:nvPr>
        </p:nvSpPr>
        <p:spPr/>
        <p:txBody>
          <a:bodyPr/>
          <a:lstStyle/>
          <a:p>
            <a:fld id="{BDD15B8C-3E3D-40B6-859E-6DE4B63CF92E}" type="slidenum">
              <a:rPr lang="en-IN" smtClean="0"/>
              <a:t>22</a:t>
            </a:fld>
            <a:endParaRPr lang="en-IN" dirty="0"/>
          </a:p>
        </p:txBody>
      </p:sp>
      <p:pic>
        <p:nvPicPr>
          <p:cNvPr id="7" name="Image 1">
            <a:extLst>
              <a:ext uri="{FF2B5EF4-FFF2-40B4-BE49-F238E27FC236}">
                <a16:creationId xmlns:a16="http://schemas.microsoft.com/office/drawing/2014/main" id="{92A41FA9-96F2-D987-EEDE-4019A3C62422}"/>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594302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98;p17">
            <a:extLst>
              <a:ext uri="{FF2B5EF4-FFF2-40B4-BE49-F238E27FC236}">
                <a16:creationId xmlns:a16="http://schemas.microsoft.com/office/drawing/2014/main" id="{6121E6A4-99D2-125C-0733-FEA0CCE01333}"/>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673284B8-9FBC-73C4-D5D4-42BD29D9599D}"/>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sp>
        <p:nvSpPr>
          <p:cNvPr id="6" name="Slide Number Placeholder 5">
            <a:extLst>
              <a:ext uri="{FF2B5EF4-FFF2-40B4-BE49-F238E27FC236}">
                <a16:creationId xmlns:a16="http://schemas.microsoft.com/office/drawing/2014/main" id="{C75C5C69-FF1D-3F5D-24FA-9570553E6EF5}"/>
              </a:ext>
            </a:extLst>
          </p:cNvPr>
          <p:cNvSpPr>
            <a:spLocks noGrp="1"/>
          </p:cNvSpPr>
          <p:nvPr>
            <p:ph type="sldNum" sz="quarter" idx="12"/>
          </p:nvPr>
        </p:nvSpPr>
        <p:spPr/>
        <p:txBody>
          <a:bodyPr/>
          <a:lstStyle/>
          <a:p>
            <a:fld id="{BDD15B8C-3E3D-40B6-859E-6DE4B63CF92E}" type="slidenum">
              <a:rPr lang="en-IN" smtClean="0"/>
              <a:t>23</a:t>
            </a:fld>
            <a:endParaRPr lang="en-IN" dirty="0"/>
          </a:p>
        </p:txBody>
      </p:sp>
      <p:pic>
        <p:nvPicPr>
          <p:cNvPr id="5" name="Picture 4">
            <a:extLst>
              <a:ext uri="{FF2B5EF4-FFF2-40B4-BE49-F238E27FC236}">
                <a16:creationId xmlns:a16="http://schemas.microsoft.com/office/drawing/2014/main" id="{B5D9D3C6-9492-7A8A-264D-C08E144EA1E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2293570" y="1796871"/>
            <a:ext cx="7272780" cy="3973308"/>
          </a:xfrm>
          <a:prstGeom prst="rect">
            <a:avLst/>
          </a:prstGeom>
          <a:noFill/>
          <a:ln>
            <a:noFill/>
          </a:ln>
        </p:spPr>
      </p:pic>
      <p:pic>
        <p:nvPicPr>
          <p:cNvPr id="7" name="Image 1">
            <a:extLst>
              <a:ext uri="{FF2B5EF4-FFF2-40B4-BE49-F238E27FC236}">
                <a16:creationId xmlns:a16="http://schemas.microsoft.com/office/drawing/2014/main" id="{61CB4D90-3CA5-64E0-B8E9-C0B7B1BAAF94}"/>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944883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E2D91-41DC-B41D-A321-47BDA79001E6}"/>
            </a:ext>
          </a:extLst>
        </p:cNvPr>
        <p:cNvGrpSpPr/>
        <p:nvPr/>
      </p:nvGrpSpPr>
      <p:grpSpPr>
        <a:xfrm>
          <a:off x="0" y="0"/>
          <a:ext cx="0" cy="0"/>
          <a:chOff x="0" y="0"/>
          <a:chExt cx="0" cy="0"/>
        </a:xfrm>
      </p:grpSpPr>
      <p:sp>
        <p:nvSpPr>
          <p:cNvPr id="2" name="Google Shape;98;p17">
            <a:extLst>
              <a:ext uri="{FF2B5EF4-FFF2-40B4-BE49-F238E27FC236}">
                <a16:creationId xmlns:a16="http://schemas.microsoft.com/office/drawing/2014/main" id="{10D2BCF3-F627-DBB3-4422-DE5D12F77844}"/>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C685FE5C-2ECF-1787-9331-446B7F16926E}"/>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sp>
        <p:nvSpPr>
          <p:cNvPr id="6" name="Slide Number Placeholder 5">
            <a:extLst>
              <a:ext uri="{FF2B5EF4-FFF2-40B4-BE49-F238E27FC236}">
                <a16:creationId xmlns:a16="http://schemas.microsoft.com/office/drawing/2014/main" id="{AE21C089-4198-110A-E0D8-2C6DC2A683AA}"/>
              </a:ext>
            </a:extLst>
          </p:cNvPr>
          <p:cNvSpPr>
            <a:spLocks noGrp="1"/>
          </p:cNvSpPr>
          <p:nvPr>
            <p:ph type="sldNum" sz="quarter" idx="12"/>
          </p:nvPr>
        </p:nvSpPr>
        <p:spPr/>
        <p:txBody>
          <a:bodyPr/>
          <a:lstStyle/>
          <a:p>
            <a:fld id="{BDD15B8C-3E3D-40B6-859E-6DE4B63CF92E}" type="slidenum">
              <a:rPr lang="en-IN" smtClean="0"/>
              <a:t>24</a:t>
            </a:fld>
            <a:endParaRPr lang="en-IN" dirty="0"/>
          </a:p>
        </p:txBody>
      </p:sp>
      <p:pic>
        <p:nvPicPr>
          <p:cNvPr id="8" name="Picture 7">
            <a:extLst>
              <a:ext uri="{FF2B5EF4-FFF2-40B4-BE49-F238E27FC236}">
                <a16:creationId xmlns:a16="http://schemas.microsoft.com/office/drawing/2014/main" id="{AAF80D14-68ED-BC58-1FDD-679E8C2B8CD8}"/>
              </a:ext>
            </a:extLst>
          </p:cNvPr>
          <p:cNvPicPr>
            <a:picLocks noChangeAspect="1"/>
          </p:cNvPicPr>
          <p:nvPr/>
        </p:nvPicPr>
        <p:blipFill>
          <a:blip r:embed="rId3">
            <a:extLst>
              <a:ext uri="{28A0092B-C50C-407E-A947-70E740481C1C}">
                <a14:useLocalDpi xmlns:a14="http://schemas.microsoft.com/office/drawing/2010/main" val="0"/>
              </a:ext>
            </a:extLst>
          </a:blip>
          <a:srcRect l="3145" t="1991" r="1608" b="3801"/>
          <a:stretch>
            <a:fillRect/>
          </a:stretch>
        </p:blipFill>
        <p:spPr>
          <a:xfrm>
            <a:off x="2733261" y="1347752"/>
            <a:ext cx="6092687" cy="4794701"/>
          </a:xfrm>
          <a:prstGeom prst="rect">
            <a:avLst/>
          </a:prstGeom>
        </p:spPr>
      </p:pic>
      <p:pic>
        <p:nvPicPr>
          <p:cNvPr id="5" name="Image 1">
            <a:extLst>
              <a:ext uri="{FF2B5EF4-FFF2-40B4-BE49-F238E27FC236}">
                <a16:creationId xmlns:a16="http://schemas.microsoft.com/office/drawing/2014/main" id="{18A70361-E495-48B9-FB39-19BD0E410407}"/>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3229103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2B2A-9FC4-19C0-DE6B-7D71DE96EAB8}"/>
            </a:ext>
          </a:extLst>
        </p:cNvPr>
        <p:cNvGrpSpPr/>
        <p:nvPr/>
      </p:nvGrpSpPr>
      <p:grpSpPr>
        <a:xfrm>
          <a:off x="0" y="0"/>
          <a:ext cx="0" cy="0"/>
          <a:chOff x="0" y="0"/>
          <a:chExt cx="0" cy="0"/>
        </a:xfrm>
      </p:grpSpPr>
      <p:sp>
        <p:nvSpPr>
          <p:cNvPr id="2" name="Google Shape;98;p17">
            <a:extLst>
              <a:ext uri="{FF2B5EF4-FFF2-40B4-BE49-F238E27FC236}">
                <a16:creationId xmlns:a16="http://schemas.microsoft.com/office/drawing/2014/main" id="{1B1B0535-385A-0D33-BBE1-BB3E4F5A6540}"/>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7BFCDCD0-35D9-1324-B628-C593A2868DB2}"/>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sp>
        <p:nvSpPr>
          <p:cNvPr id="6" name="Slide Number Placeholder 5">
            <a:extLst>
              <a:ext uri="{FF2B5EF4-FFF2-40B4-BE49-F238E27FC236}">
                <a16:creationId xmlns:a16="http://schemas.microsoft.com/office/drawing/2014/main" id="{35FDD88B-F62A-CFAF-8CA5-93BF331C5812}"/>
              </a:ext>
            </a:extLst>
          </p:cNvPr>
          <p:cNvSpPr>
            <a:spLocks noGrp="1"/>
          </p:cNvSpPr>
          <p:nvPr>
            <p:ph type="sldNum" sz="quarter" idx="12"/>
          </p:nvPr>
        </p:nvSpPr>
        <p:spPr/>
        <p:txBody>
          <a:bodyPr/>
          <a:lstStyle/>
          <a:p>
            <a:fld id="{BDD15B8C-3E3D-40B6-859E-6DE4B63CF92E}" type="slidenum">
              <a:rPr lang="en-IN" smtClean="0"/>
              <a:t>25</a:t>
            </a:fld>
            <a:endParaRPr lang="en-IN" dirty="0"/>
          </a:p>
        </p:txBody>
      </p:sp>
      <p:pic>
        <p:nvPicPr>
          <p:cNvPr id="8" name="Picture 7">
            <a:extLst>
              <a:ext uri="{FF2B5EF4-FFF2-40B4-BE49-F238E27FC236}">
                <a16:creationId xmlns:a16="http://schemas.microsoft.com/office/drawing/2014/main" id="{4F2DB9AC-0D80-BBFC-ABD2-5F1F6EF19CCC}"/>
              </a:ext>
            </a:extLst>
          </p:cNvPr>
          <p:cNvPicPr>
            <a:picLocks noChangeAspect="1"/>
          </p:cNvPicPr>
          <p:nvPr/>
        </p:nvPicPr>
        <p:blipFill>
          <a:blip r:embed="rId3">
            <a:extLst>
              <a:ext uri="{28A0092B-C50C-407E-A947-70E740481C1C}">
                <a14:useLocalDpi xmlns:a14="http://schemas.microsoft.com/office/drawing/2010/main" val="0"/>
              </a:ext>
            </a:extLst>
          </a:blip>
          <a:srcRect l="14866" r="14866"/>
          <a:stretch/>
        </p:blipFill>
        <p:spPr>
          <a:xfrm>
            <a:off x="2733261" y="1347752"/>
            <a:ext cx="6092687" cy="4794701"/>
          </a:xfrm>
          <a:prstGeom prst="rect">
            <a:avLst/>
          </a:prstGeom>
        </p:spPr>
      </p:pic>
      <p:pic>
        <p:nvPicPr>
          <p:cNvPr id="5" name="Image 1">
            <a:extLst>
              <a:ext uri="{FF2B5EF4-FFF2-40B4-BE49-F238E27FC236}">
                <a16:creationId xmlns:a16="http://schemas.microsoft.com/office/drawing/2014/main" id="{27DB79D3-917B-D8C8-DD5B-0342E7332876}"/>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0966634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E3CB0-BFFF-1A5D-1DF8-F2D55741766B}"/>
            </a:ext>
          </a:extLst>
        </p:cNvPr>
        <p:cNvGrpSpPr/>
        <p:nvPr/>
      </p:nvGrpSpPr>
      <p:grpSpPr>
        <a:xfrm>
          <a:off x="0" y="0"/>
          <a:ext cx="0" cy="0"/>
          <a:chOff x="0" y="0"/>
          <a:chExt cx="0" cy="0"/>
        </a:xfrm>
      </p:grpSpPr>
      <p:sp>
        <p:nvSpPr>
          <p:cNvPr id="2" name="Google Shape;98;p17">
            <a:extLst>
              <a:ext uri="{FF2B5EF4-FFF2-40B4-BE49-F238E27FC236}">
                <a16:creationId xmlns:a16="http://schemas.microsoft.com/office/drawing/2014/main" id="{577B3B13-69C0-A1C5-E319-CBF2260530A7}"/>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F01E323B-1D61-24F7-0946-62B2450B48B7}"/>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sp>
        <p:nvSpPr>
          <p:cNvPr id="6" name="Slide Number Placeholder 5">
            <a:extLst>
              <a:ext uri="{FF2B5EF4-FFF2-40B4-BE49-F238E27FC236}">
                <a16:creationId xmlns:a16="http://schemas.microsoft.com/office/drawing/2014/main" id="{FC0BCF95-5C65-46DE-69FF-C6FA25FEF756}"/>
              </a:ext>
            </a:extLst>
          </p:cNvPr>
          <p:cNvSpPr>
            <a:spLocks noGrp="1"/>
          </p:cNvSpPr>
          <p:nvPr>
            <p:ph type="sldNum" sz="quarter" idx="12"/>
          </p:nvPr>
        </p:nvSpPr>
        <p:spPr/>
        <p:txBody>
          <a:bodyPr/>
          <a:lstStyle/>
          <a:p>
            <a:fld id="{BDD15B8C-3E3D-40B6-859E-6DE4B63CF92E}" type="slidenum">
              <a:rPr lang="en-IN" smtClean="0"/>
              <a:t>26</a:t>
            </a:fld>
            <a:endParaRPr lang="en-IN" dirty="0"/>
          </a:p>
        </p:txBody>
      </p:sp>
      <p:pic>
        <p:nvPicPr>
          <p:cNvPr id="8" name="Picture 7">
            <a:extLst>
              <a:ext uri="{FF2B5EF4-FFF2-40B4-BE49-F238E27FC236}">
                <a16:creationId xmlns:a16="http://schemas.microsoft.com/office/drawing/2014/main" id="{7863EE6B-BD0B-F199-3228-EC394434088A}"/>
              </a:ext>
            </a:extLst>
          </p:cNvPr>
          <p:cNvPicPr>
            <a:picLocks noChangeAspect="1"/>
          </p:cNvPicPr>
          <p:nvPr/>
        </p:nvPicPr>
        <p:blipFill>
          <a:blip r:embed="rId3">
            <a:extLst>
              <a:ext uri="{28A0092B-C50C-407E-A947-70E740481C1C}">
                <a14:useLocalDpi xmlns:a14="http://schemas.microsoft.com/office/drawing/2010/main" val="0"/>
              </a:ext>
            </a:extLst>
          </a:blip>
          <a:srcRect l="14801" r="14801"/>
          <a:stretch/>
        </p:blipFill>
        <p:spPr>
          <a:xfrm>
            <a:off x="2733261" y="1347752"/>
            <a:ext cx="6092687" cy="4794701"/>
          </a:xfrm>
          <a:prstGeom prst="rect">
            <a:avLst/>
          </a:prstGeom>
        </p:spPr>
      </p:pic>
      <p:pic>
        <p:nvPicPr>
          <p:cNvPr id="5" name="Image 1">
            <a:extLst>
              <a:ext uri="{FF2B5EF4-FFF2-40B4-BE49-F238E27FC236}">
                <a16:creationId xmlns:a16="http://schemas.microsoft.com/office/drawing/2014/main" id="{1EC22539-0ADB-D44F-4523-CCF6CF268012}"/>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448333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B3D6-D6DE-71A3-2D3F-49D8AFEE9F20}"/>
            </a:ext>
          </a:extLst>
        </p:cNvPr>
        <p:cNvGrpSpPr/>
        <p:nvPr/>
      </p:nvGrpSpPr>
      <p:grpSpPr>
        <a:xfrm>
          <a:off x="0" y="0"/>
          <a:ext cx="0" cy="0"/>
          <a:chOff x="0" y="0"/>
          <a:chExt cx="0" cy="0"/>
        </a:xfrm>
      </p:grpSpPr>
      <p:sp>
        <p:nvSpPr>
          <p:cNvPr id="2" name="Google Shape;98;p17">
            <a:extLst>
              <a:ext uri="{FF2B5EF4-FFF2-40B4-BE49-F238E27FC236}">
                <a16:creationId xmlns:a16="http://schemas.microsoft.com/office/drawing/2014/main" id="{CAFCE890-2810-164D-A3FB-6BCF439A30E7}"/>
              </a:ext>
            </a:extLst>
          </p:cNvPr>
          <p:cNvSpPr txBox="1">
            <a:spLocks/>
          </p:cNvSpPr>
          <p:nvPr/>
        </p:nvSpPr>
        <p:spPr>
          <a:xfrm>
            <a:off x="251051" y="260752"/>
            <a:ext cx="11360800" cy="763600"/>
          </a:xfrm>
          <a:prstGeom prst="rect">
            <a:avLst/>
          </a:prstGeom>
          <a:noFill/>
          <a:ln>
            <a:noFill/>
          </a:ln>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solidFill>
                  <a:srgbClr val="FF0000"/>
                </a:solidFill>
                <a:latin typeface="Times New Roman" panose="02020603050405020304" pitchFamily="18" charset="0"/>
                <a:cs typeface="Times New Roman" panose="02020603050405020304" pitchFamily="18" charset="0"/>
              </a:rPr>
              <a:t>Implementation</a:t>
            </a:r>
            <a:br>
              <a:rPr lang="en-US" b="1">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latin typeface="Times New Roman" panose="02020603050405020304" pitchFamily="18" charset="0"/>
              <a:cs typeface="Times New Roman" panose="02020603050405020304" pitchFamily="18" charset="0"/>
            </a:endParaRPr>
          </a:p>
        </p:txBody>
      </p:sp>
      <p:pic>
        <p:nvPicPr>
          <p:cNvPr id="4" name="Image 1">
            <a:extLst>
              <a:ext uri="{FF2B5EF4-FFF2-40B4-BE49-F238E27FC236}">
                <a16:creationId xmlns:a16="http://schemas.microsoft.com/office/drawing/2014/main" id="{7447B0BD-7D77-7B3D-4618-22B1F643B131}"/>
              </a:ext>
            </a:extLst>
          </p:cNvPr>
          <p:cNvPicPr>
            <a:picLocks/>
          </p:cNvPicPr>
          <p:nvPr/>
        </p:nvPicPr>
        <p:blipFill rotWithShape="1">
          <a:blip r:embed="rId2" cstate="print"/>
          <a:srcRect r="80586"/>
          <a:stretch>
            <a:fillRect/>
          </a:stretch>
        </p:blipFill>
        <p:spPr>
          <a:xfrm>
            <a:off x="251051" y="209192"/>
            <a:ext cx="1022577" cy="971550"/>
          </a:xfrm>
          <a:prstGeom prst="rect">
            <a:avLst/>
          </a:prstGeom>
        </p:spPr>
      </p:pic>
      <p:sp>
        <p:nvSpPr>
          <p:cNvPr id="6" name="Slide Number Placeholder 5">
            <a:extLst>
              <a:ext uri="{FF2B5EF4-FFF2-40B4-BE49-F238E27FC236}">
                <a16:creationId xmlns:a16="http://schemas.microsoft.com/office/drawing/2014/main" id="{35BF931A-464D-BCBA-8D44-30F0FDA6967E}"/>
              </a:ext>
            </a:extLst>
          </p:cNvPr>
          <p:cNvSpPr>
            <a:spLocks noGrp="1"/>
          </p:cNvSpPr>
          <p:nvPr>
            <p:ph type="sldNum" sz="quarter" idx="12"/>
          </p:nvPr>
        </p:nvSpPr>
        <p:spPr/>
        <p:txBody>
          <a:bodyPr/>
          <a:lstStyle/>
          <a:p>
            <a:fld id="{BDD15B8C-3E3D-40B6-859E-6DE4B63CF92E}" type="slidenum">
              <a:rPr lang="en-IN" smtClean="0"/>
              <a:t>27</a:t>
            </a:fld>
            <a:endParaRPr lang="en-IN" dirty="0"/>
          </a:p>
        </p:txBody>
      </p:sp>
      <p:pic>
        <p:nvPicPr>
          <p:cNvPr id="5" name="Picture 4">
            <a:extLst>
              <a:ext uri="{FF2B5EF4-FFF2-40B4-BE49-F238E27FC236}">
                <a16:creationId xmlns:a16="http://schemas.microsoft.com/office/drawing/2014/main" id="{DD62F29F-8F57-9D72-826B-943E42E441D0}"/>
              </a:ext>
            </a:extLst>
          </p:cNvPr>
          <p:cNvPicPr>
            <a:picLocks noChangeAspect="1"/>
          </p:cNvPicPr>
          <p:nvPr/>
        </p:nvPicPr>
        <p:blipFill>
          <a:blip r:embed="rId3">
            <a:extLst>
              <a:ext uri="{28A0092B-C50C-407E-A947-70E740481C1C}">
                <a14:useLocalDpi xmlns:a14="http://schemas.microsoft.com/office/drawing/2010/main" val="0"/>
              </a:ext>
            </a:extLst>
          </a:blip>
          <a:srcRect r="1149"/>
          <a:stretch>
            <a:fillRect/>
          </a:stretch>
        </p:blipFill>
        <p:spPr bwMode="auto">
          <a:xfrm>
            <a:off x="2331561" y="1909359"/>
            <a:ext cx="7528878" cy="3372798"/>
          </a:xfrm>
          <a:prstGeom prst="rect">
            <a:avLst/>
          </a:prstGeom>
          <a:noFill/>
          <a:ln>
            <a:noFill/>
          </a:ln>
        </p:spPr>
      </p:pic>
      <p:pic>
        <p:nvPicPr>
          <p:cNvPr id="7" name="Image 1">
            <a:extLst>
              <a:ext uri="{FF2B5EF4-FFF2-40B4-BE49-F238E27FC236}">
                <a16:creationId xmlns:a16="http://schemas.microsoft.com/office/drawing/2014/main" id="{21B1FD12-5576-0753-248E-81C64AE5C576}"/>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360863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E9630BEC-5901-CFE7-4874-64C2D8BE10B5}"/>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4D868D0F-547C-A95C-2CA4-B3151249A2B5}"/>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System Requirements</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7B9FF615-DEC8-D75E-D28A-52D35940AE25}"/>
              </a:ext>
            </a:extLst>
          </p:cNvPr>
          <p:cNvSpPr txBox="1">
            <a:spLocks noGrp="1"/>
          </p:cNvSpPr>
          <p:nvPr>
            <p:ph type="body" idx="1"/>
          </p:nvPr>
        </p:nvSpPr>
        <p:spPr>
          <a:xfrm>
            <a:off x="355630" y="1518554"/>
            <a:ext cx="11360800" cy="4896657"/>
          </a:xfrm>
          <a:prstGeom prst="rect">
            <a:avLst/>
          </a:prstGeom>
          <a:noFill/>
          <a:ln>
            <a:noFill/>
          </a:ln>
        </p:spPr>
        <p:txBody>
          <a:bodyPr spcFirstLastPara="1" vert="horz" wrap="square" lIns="121900" tIns="121900" rIns="121900" bIns="121900" rtlCol="0" anchor="t" anchorCtr="0">
            <a:no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Modern Web Browser</a:t>
            </a:r>
            <a:r>
              <a:rPr lang="en-IN" sz="2400" dirty="0">
                <a:latin typeface="Times New Roman" panose="02020603050405020304" pitchFamily="18" charset="0"/>
                <a:cs typeface="Times New Roman" panose="02020603050405020304" pitchFamily="18" charset="0"/>
              </a:rPr>
              <a:t> – Chrome/Edge/Firefox with latest updates.</a:t>
            </a:r>
          </a:p>
          <a:p>
            <a:r>
              <a:rPr lang="en-IN" sz="2400" b="1" dirty="0">
                <a:latin typeface="Times New Roman" panose="02020603050405020304" pitchFamily="18" charset="0"/>
                <a:cs typeface="Times New Roman" panose="02020603050405020304" pitchFamily="18" charset="0"/>
              </a:rPr>
              <a:t>Stable Internet Connection</a:t>
            </a:r>
            <a:r>
              <a:rPr lang="en-IN" sz="2400" dirty="0">
                <a:latin typeface="Times New Roman" panose="02020603050405020304" pitchFamily="18" charset="0"/>
                <a:cs typeface="Times New Roman" panose="02020603050405020304" pitchFamily="18" charset="0"/>
              </a:rPr>
              <a:t> – Minimum 10 Mbps for smooth cloud integration.</a:t>
            </a:r>
          </a:p>
          <a:p>
            <a:r>
              <a:rPr lang="en-IN" sz="2400" b="1" dirty="0">
                <a:latin typeface="Times New Roman" panose="02020603050405020304" pitchFamily="18" charset="0"/>
                <a:cs typeface="Times New Roman" panose="02020603050405020304" pitchFamily="18" charset="0"/>
              </a:rPr>
              <a:t>Backend Framework</a:t>
            </a:r>
            <a:r>
              <a:rPr lang="en-IN" sz="2400" dirty="0">
                <a:latin typeface="Times New Roman" panose="02020603050405020304" pitchFamily="18" charset="0"/>
                <a:cs typeface="Times New Roman" panose="02020603050405020304" pitchFamily="18" charset="0"/>
              </a:rPr>
              <a:t> – Python with Flask/Django or Node.js for server-side processing.</a:t>
            </a:r>
          </a:p>
          <a:p>
            <a:r>
              <a:rPr lang="en-IN" sz="2400" b="1" dirty="0">
                <a:latin typeface="Times New Roman" panose="02020603050405020304" pitchFamily="18" charset="0"/>
                <a:cs typeface="Times New Roman" panose="02020603050405020304" pitchFamily="18" charset="0"/>
              </a:rPr>
              <a:t>Frontend Framework</a:t>
            </a:r>
            <a:r>
              <a:rPr lang="en-IN" sz="2400" dirty="0">
                <a:latin typeface="Times New Roman" panose="02020603050405020304" pitchFamily="18" charset="0"/>
                <a:cs typeface="Times New Roman" panose="02020603050405020304" pitchFamily="18" charset="0"/>
              </a:rPr>
              <a:t> – React.js or Angular for interactive user interface.</a:t>
            </a:r>
          </a:p>
          <a:p>
            <a:r>
              <a:rPr lang="en-IN" sz="2400" b="1" dirty="0">
                <a:latin typeface="Times New Roman" panose="02020603050405020304" pitchFamily="18" charset="0"/>
                <a:cs typeface="Times New Roman" panose="02020603050405020304" pitchFamily="18" charset="0"/>
              </a:rPr>
              <a:t>Deep Learning Support</a:t>
            </a:r>
            <a:r>
              <a:rPr lang="en-IN" sz="2400" dirty="0">
                <a:latin typeface="Times New Roman" panose="02020603050405020304" pitchFamily="18" charset="0"/>
                <a:cs typeface="Times New Roman" panose="02020603050405020304" pitchFamily="18" charset="0"/>
              </a:rPr>
              <a:t> – </a:t>
            </a:r>
            <a:r>
              <a:rPr lang="en-IN" sz="2400" dirty="0" err="1">
                <a:latin typeface="Times New Roman" panose="02020603050405020304" pitchFamily="18" charset="0"/>
                <a:cs typeface="Times New Roman" panose="02020603050405020304" pitchFamily="18" charset="0"/>
              </a:rPr>
              <a:t>PyTorch</a:t>
            </a:r>
            <a:r>
              <a:rPr lang="en-IN" sz="2400" dirty="0">
                <a:latin typeface="Times New Roman" panose="02020603050405020304" pitchFamily="18" charset="0"/>
                <a:cs typeface="Times New Roman" panose="02020603050405020304" pitchFamily="18" charset="0"/>
              </a:rPr>
              <a:t>/TensorFlow with </a:t>
            </a:r>
            <a:r>
              <a:rPr lang="en-IN" sz="2400" dirty="0" err="1">
                <a:latin typeface="Times New Roman" panose="02020603050405020304" pitchFamily="18" charset="0"/>
                <a:cs typeface="Times New Roman" panose="02020603050405020304" pitchFamily="18" charset="0"/>
              </a:rPr>
              <a:t>ViT</a:t>
            </a:r>
            <a:r>
              <a:rPr lang="en-IN" sz="2400" dirty="0">
                <a:latin typeface="Times New Roman" panose="02020603050405020304" pitchFamily="18" charset="0"/>
                <a:cs typeface="Times New Roman" panose="02020603050405020304" pitchFamily="18" charset="0"/>
              </a:rPr>
              <a:t> models via Timm library.</a:t>
            </a:r>
          </a:p>
          <a:p>
            <a:r>
              <a:rPr lang="en-IN" sz="2400" b="1" dirty="0">
                <a:latin typeface="Times New Roman" panose="02020603050405020304" pitchFamily="18" charset="0"/>
                <a:cs typeface="Times New Roman" panose="02020603050405020304" pitchFamily="18" charset="0"/>
              </a:rPr>
              <a:t>Database System</a:t>
            </a:r>
            <a:r>
              <a:rPr lang="en-IN" sz="2400" dirty="0">
                <a:latin typeface="Times New Roman" panose="02020603050405020304" pitchFamily="18" charset="0"/>
                <a:cs typeface="Times New Roman" panose="02020603050405020304" pitchFamily="18" charset="0"/>
              </a:rPr>
              <a:t> – MySQL or MongoDB to manage user data, logs, and results.</a:t>
            </a:r>
          </a:p>
          <a:p>
            <a:pPr algn="just"/>
            <a:endParaRPr lang="en-US" sz="2400" dirty="0">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85F20F76-3CC1-EFC1-932B-A49AD0B88EFE}"/>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F3EF2118-BE1B-24C4-D1F8-3455C209BC61}"/>
              </a:ext>
            </a:extLst>
          </p:cNvPr>
          <p:cNvSpPr>
            <a:spLocks noGrp="1"/>
          </p:cNvSpPr>
          <p:nvPr>
            <p:ph type="sldNum" idx="12"/>
          </p:nvPr>
        </p:nvSpPr>
        <p:spPr/>
        <p:txBody>
          <a:bodyPr/>
          <a:lstStyle/>
          <a:p>
            <a:fld id="{00000000-1234-1234-1234-123412341234}" type="slidenum">
              <a:rPr lang="en" smtClean="0"/>
              <a:t>28</a:t>
            </a:fld>
            <a:endParaRPr lang="en"/>
          </a:p>
        </p:txBody>
      </p:sp>
      <p:pic>
        <p:nvPicPr>
          <p:cNvPr id="5" name="Image 1">
            <a:extLst>
              <a:ext uri="{FF2B5EF4-FFF2-40B4-BE49-F238E27FC236}">
                <a16:creationId xmlns:a16="http://schemas.microsoft.com/office/drawing/2014/main" id="{36DD42AE-8E0E-AE9D-8D81-4CAA0EE823D8}"/>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2124455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45B87EB7-3AA2-0B2E-D9A3-9B42D300822F}"/>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F3DD447B-D530-FF8D-9E1E-313FEAC0D6D4}"/>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Conclusion</a:t>
            </a:r>
            <a:endParaRPr b="1" dirty="0">
              <a:solidFill>
                <a:srgbClr val="FF0000"/>
              </a:solidFill>
              <a:latin typeface="Times New Roman" panose="02020603050405020304" pitchFamily="18" charset="0"/>
              <a:cs typeface="Times New Roman" panose="02020603050405020304" pitchFamily="18" charset="0"/>
            </a:endParaRPr>
          </a:p>
        </p:txBody>
      </p:sp>
      <p:sp>
        <p:nvSpPr>
          <p:cNvPr id="1048607" name="Google Shape;97;p17">
            <a:extLst>
              <a:ext uri="{FF2B5EF4-FFF2-40B4-BE49-F238E27FC236}">
                <a16:creationId xmlns:a16="http://schemas.microsoft.com/office/drawing/2014/main" id="{AE008E65-D407-9ADE-9DAF-ACE1B86D7442}"/>
              </a:ext>
            </a:extLst>
          </p:cNvPr>
          <p:cNvSpPr txBox="1">
            <a:spLocks noGrp="1"/>
          </p:cNvSpPr>
          <p:nvPr>
            <p:ph type="body" idx="1"/>
          </p:nvPr>
        </p:nvSpPr>
        <p:spPr>
          <a:xfrm>
            <a:off x="355630" y="1518555"/>
            <a:ext cx="11360800" cy="4157032"/>
          </a:xfrm>
          <a:prstGeom prst="rect">
            <a:avLst/>
          </a:prstGeom>
          <a:noFill/>
          <a:ln>
            <a:noFill/>
          </a:ln>
        </p:spPr>
        <p:txBody>
          <a:bodyPr spcFirstLastPara="1" vert="horz" wrap="square" lIns="121900" tIns="121900" rIns="121900" bIns="121900" rtlCol="0" anchor="t" anchorCtr="0">
            <a:noAutofit/>
          </a:bodyPr>
          <a:lstStyle/>
          <a:p>
            <a:pPr algn="just"/>
            <a:r>
              <a:rPr lang="en-US" sz="2400" dirty="0">
                <a:latin typeface="Times New Roman" panose="02020603050405020304" pitchFamily="18" charset="0"/>
                <a:cs typeface="Times New Roman" panose="02020603050405020304" pitchFamily="18" charset="0"/>
              </a:rPr>
              <a:t>This project presents an efficient and explainable approach for Diabetic Retinopathy (DR) detection using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By capturing both local and global features, the model overcomes limitations of traditional methods and enables accurate multi-class classification of DR severity levels.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system improves diagnostic performance while providing better interpretability through attention mechanisms. Overall, it offers a reliable and scalable solution that can support clinicians in early detection and informed decision-making, ultimately helping to prevent vision loss.</a:t>
            </a:r>
          </a:p>
        </p:txBody>
      </p:sp>
      <p:pic>
        <p:nvPicPr>
          <p:cNvPr id="2097160" name="Image 1">
            <a:extLst>
              <a:ext uri="{FF2B5EF4-FFF2-40B4-BE49-F238E27FC236}">
                <a16:creationId xmlns:a16="http://schemas.microsoft.com/office/drawing/2014/main" id="{F6357B85-425C-9E1D-6B63-A419FD4C8220}"/>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2" name="Slide Number Placeholder 1">
            <a:extLst>
              <a:ext uri="{FF2B5EF4-FFF2-40B4-BE49-F238E27FC236}">
                <a16:creationId xmlns:a16="http://schemas.microsoft.com/office/drawing/2014/main" id="{8FB80683-1FB2-EBAD-049A-D06D4F073C2B}"/>
              </a:ext>
            </a:extLst>
          </p:cNvPr>
          <p:cNvSpPr>
            <a:spLocks noGrp="1"/>
          </p:cNvSpPr>
          <p:nvPr>
            <p:ph type="sldNum" idx="12"/>
          </p:nvPr>
        </p:nvSpPr>
        <p:spPr/>
        <p:txBody>
          <a:bodyPr/>
          <a:lstStyle/>
          <a:p>
            <a:fld id="{00000000-1234-1234-1234-123412341234}" type="slidenum">
              <a:rPr lang="en" smtClean="0"/>
              <a:t>29</a:t>
            </a:fld>
            <a:endParaRPr lang="en"/>
          </a:p>
        </p:txBody>
      </p:sp>
      <p:pic>
        <p:nvPicPr>
          <p:cNvPr id="5" name="Image 1">
            <a:extLst>
              <a:ext uri="{FF2B5EF4-FFF2-40B4-BE49-F238E27FC236}">
                <a16:creationId xmlns:a16="http://schemas.microsoft.com/office/drawing/2014/main" id="{F177964B-0CFC-AF95-9F6D-30B93431AA36}"/>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342607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10156488-2F7A-E428-081E-98187CA8FB76}"/>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B136C84C-D94B-710B-A9D0-D95E3B328A3A}"/>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Publication Status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2B426C97-B08C-9B98-A9BF-41C991C7D8D1}"/>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4" name="Slide Number Placeholder 3">
            <a:extLst>
              <a:ext uri="{FF2B5EF4-FFF2-40B4-BE49-F238E27FC236}">
                <a16:creationId xmlns:a16="http://schemas.microsoft.com/office/drawing/2014/main" id="{20306453-3A78-FBFC-B585-D6350FD16782}"/>
              </a:ext>
            </a:extLst>
          </p:cNvPr>
          <p:cNvSpPr>
            <a:spLocks noGrp="1"/>
          </p:cNvSpPr>
          <p:nvPr>
            <p:ph type="sldNum" idx="12"/>
          </p:nvPr>
        </p:nvSpPr>
        <p:spPr/>
        <p:txBody>
          <a:bodyPr/>
          <a:lstStyle/>
          <a:p>
            <a:fld id="{00000000-1234-1234-1234-123412341234}" type="slidenum">
              <a:rPr lang="en" smtClean="0"/>
              <a:t>30</a:t>
            </a:fld>
            <a:endParaRPr lang="en"/>
          </a:p>
        </p:txBody>
      </p:sp>
      <p:sp>
        <p:nvSpPr>
          <p:cNvPr id="5" name="TextBox 4">
            <a:extLst>
              <a:ext uri="{FF2B5EF4-FFF2-40B4-BE49-F238E27FC236}">
                <a16:creationId xmlns:a16="http://schemas.microsoft.com/office/drawing/2014/main" id="{6E9CFA65-F6AA-FB6F-B578-114D75F14E69}"/>
              </a:ext>
            </a:extLst>
          </p:cNvPr>
          <p:cNvSpPr txBox="1"/>
          <p:nvPr/>
        </p:nvSpPr>
        <p:spPr>
          <a:xfrm>
            <a:off x="498178" y="1819179"/>
            <a:ext cx="4947581" cy="3693319"/>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Title: </a:t>
            </a:r>
            <a:r>
              <a:rPr lang="en-IN" dirty="0">
                <a:latin typeface="Times New Roman" panose="02020603050405020304" pitchFamily="18" charset="0"/>
                <a:cs typeface="Times New Roman" panose="02020603050405020304" pitchFamily="18" charset="0"/>
              </a:rPr>
              <a:t>A survey on artificial intelligence and deep learning techniques for diabetic retinopathy detection and classification</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Authors Name: </a:t>
            </a:r>
            <a:r>
              <a:rPr lang="en-IN" dirty="0" err="1">
                <a:latin typeface="Times New Roman" panose="02020603050405020304" pitchFamily="18" charset="0"/>
                <a:cs typeface="Times New Roman" panose="02020603050405020304" pitchFamily="18" charset="0"/>
              </a:rPr>
              <a:t>Mrs.C.Vanaja</a:t>
            </a:r>
            <a:r>
              <a:rPr lang="en-IN" dirty="0">
                <a:latin typeface="Times New Roman" panose="02020603050405020304" pitchFamily="18" charset="0"/>
                <a:cs typeface="Times New Roman" panose="02020603050405020304" pitchFamily="18" charset="0"/>
              </a:rPr>
              <a:t>, Harikanth R, Sabarinath A, Naveenkumar S Conference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Name: </a:t>
            </a:r>
            <a:r>
              <a:rPr lang="en-IN" dirty="0">
                <a:latin typeface="Times New Roman" panose="02020603050405020304" pitchFamily="18" charset="0"/>
                <a:cs typeface="Times New Roman" panose="02020603050405020304" pitchFamily="18" charset="0"/>
              </a:rPr>
              <a:t>International Conference on Artificial Intelligence and Secure Data Analytics (ICAISDA-2025) Organized by: Pondicherry </a:t>
            </a:r>
            <a:r>
              <a:rPr lang="en-IN" dirty="0" err="1">
                <a:latin typeface="Times New Roman" panose="02020603050405020304" pitchFamily="18" charset="0"/>
                <a:cs typeface="Times New Roman" panose="02020603050405020304" pitchFamily="18" charset="0"/>
              </a:rPr>
              <a:t>Techniacal</a:t>
            </a:r>
            <a:r>
              <a:rPr lang="en-IN" dirty="0">
                <a:latin typeface="Times New Roman" panose="02020603050405020304" pitchFamily="18" charset="0"/>
                <a:cs typeface="Times New Roman" panose="02020603050405020304" pitchFamily="18" charset="0"/>
              </a:rPr>
              <a:t> University </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Current Status:</a:t>
            </a:r>
            <a:r>
              <a:rPr lang="en-IN" dirty="0">
                <a:latin typeface="Times New Roman" panose="02020603050405020304" pitchFamily="18" charset="0"/>
                <a:cs typeface="Times New Roman" panose="02020603050405020304" pitchFamily="18" charset="0"/>
              </a:rPr>
              <a:t> Paper accepted</a:t>
            </a:r>
          </a:p>
        </p:txBody>
      </p:sp>
      <p:pic>
        <p:nvPicPr>
          <p:cNvPr id="7" name="Picture 6">
            <a:extLst>
              <a:ext uri="{FF2B5EF4-FFF2-40B4-BE49-F238E27FC236}">
                <a16:creationId xmlns:a16="http://schemas.microsoft.com/office/drawing/2014/main" id="{820E6180-2EC9-E162-A7A0-AF8C292D27F8}"/>
              </a:ext>
            </a:extLst>
          </p:cNvPr>
          <p:cNvPicPr>
            <a:picLocks noChangeAspect="1"/>
          </p:cNvPicPr>
          <p:nvPr/>
        </p:nvPicPr>
        <p:blipFill>
          <a:blip r:embed="rId4"/>
          <a:stretch>
            <a:fillRect/>
          </a:stretch>
        </p:blipFill>
        <p:spPr>
          <a:xfrm>
            <a:off x="5655731" y="1547925"/>
            <a:ext cx="6276248" cy="4328160"/>
          </a:xfrm>
          <a:prstGeom prst="rect">
            <a:avLst/>
          </a:prstGeom>
        </p:spPr>
      </p:pic>
      <p:pic>
        <p:nvPicPr>
          <p:cNvPr id="3" name="Image 1">
            <a:extLst>
              <a:ext uri="{FF2B5EF4-FFF2-40B4-BE49-F238E27FC236}">
                <a16:creationId xmlns:a16="http://schemas.microsoft.com/office/drawing/2014/main" id="{327607FE-6D52-12E9-CE88-0B45FEFC7E26}"/>
              </a:ext>
            </a:extLst>
          </p:cNvPr>
          <p:cNvPicPr>
            <a:picLocks/>
          </p:cNvPicPr>
          <p:nvPr/>
        </p:nvPicPr>
        <p:blipFill rotWithShape="1">
          <a:blip r:embed="rId5">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876599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9CACDDBA-B893-E394-0DA8-C0643184DB0A}"/>
            </a:ext>
          </a:extLst>
        </p:cNvPr>
        <p:cNvGrpSpPr/>
        <p:nvPr/>
      </p:nvGrpSpPr>
      <p:grpSpPr>
        <a:xfrm>
          <a:off x="0" y="0"/>
          <a:ext cx="0" cy="0"/>
          <a:chOff x="0" y="0"/>
          <a:chExt cx="0" cy="0"/>
        </a:xfrm>
      </p:grpSpPr>
      <p:sp>
        <p:nvSpPr>
          <p:cNvPr id="1048606" name="Google Shape;98;p17">
            <a:extLst>
              <a:ext uri="{FF2B5EF4-FFF2-40B4-BE49-F238E27FC236}">
                <a16:creationId xmlns:a16="http://schemas.microsoft.com/office/drawing/2014/main" id="{44AF18C4-D603-1A91-1EB4-42EDD33B6609}"/>
              </a:ext>
            </a:extLst>
          </p:cNvPr>
          <p:cNvSpPr txBox="1">
            <a:spLocks noGrp="1"/>
          </p:cNvSpPr>
          <p:nvPr>
            <p:ph type="title"/>
          </p:nvPr>
        </p:nvSpPr>
        <p:spPr>
          <a:xfrm>
            <a:off x="415600" y="442788"/>
            <a:ext cx="11360800" cy="763600"/>
          </a:xfrm>
          <a:prstGeom prst="rect">
            <a:avLst/>
          </a:prstGeom>
          <a:noFill/>
          <a:ln>
            <a:noFill/>
          </a:ln>
        </p:spPr>
        <p:txBody>
          <a:bodyPr spcFirstLastPara="1" vert="horz" wrap="square" lIns="121900" tIns="121900" rIns="121900" bIns="121900" rtlCol="0" anchor="t" anchorCtr="0">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Publication Status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0" name="Image 1">
            <a:extLst>
              <a:ext uri="{FF2B5EF4-FFF2-40B4-BE49-F238E27FC236}">
                <a16:creationId xmlns:a16="http://schemas.microsoft.com/office/drawing/2014/main" id="{0D04446C-3164-FC04-45E6-CEF69CF3B225}"/>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4" name="Slide Number Placeholder 3">
            <a:extLst>
              <a:ext uri="{FF2B5EF4-FFF2-40B4-BE49-F238E27FC236}">
                <a16:creationId xmlns:a16="http://schemas.microsoft.com/office/drawing/2014/main" id="{F0ED7180-7758-9BF4-B8C8-C7CCBCCB1FAB}"/>
              </a:ext>
            </a:extLst>
          </p:cNvPr>
          <p:cNvSpPr>
            <a:spLocks noGrp="1"/>
          </p:cNvSpPr>
          <p:nvPr>
            <p:ph type="sldNum" idx="12"/>
          </p:nvPr>
        </p:nvSpPr>
        <p:spPr/>
        <p:txBody>
          <a:bodyPr/>
          <a:lstStyle/>
          <a:p>
            <a:fld id="{00000000-1234-1234-1234-123412341234}" type="slidenum">
              <a:rPr lang="en" smtClean="0"/>
              <a:t>31</a:t>
            </a:fld>
            <a:endParaRPr lang="en"/>
          </a:p>
        </p:txBody>
      </p:sp>
      <p:sp>
        <p:nvSpPr>
          <p:cNvPr id="5" name="TextBox 4">
            <a:extLst>
              <a:ext uri="{FF2B5EF4-FFF2-40B4-BE49-F238E27FC236}">
                <a16:creationId xmlns:a16="http://schemas.microsoft.com/office/drawing/2014/main" id="{60DB19F8-ECA2-B5C0-1526-4E9CE94DD254}"/>
              </a:ext>
            </a:extLst>
          </p:cNvPr>
          <p:cNvSpPr txBox="1"/>
          <p:nvPr/>
        </p:nvSpPr>
        <p:spPr>
          <a:xfrm>
            <a:off x="519199" y="2280844"/>
            <a:ext cx="4947581" cy="2862322"/>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Title: </a:t>
            </a:r>
            <a:r>
              <a:rPr lang="en-IN" dirty="0">
                <a:latin typeface="Times New Roman" panose="02020603050405020304" pitchFamily="18" charset="0"/>
                <a:cs typeface="Times New Roman" panose="02020603050405020304" pitchFamily="18" charset="0"/>
              </a:rPr>
              <a:t>Diabetic Retinopathy Diagnosis and Classification using Vision Transformer</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Authors Name: </a:t>
            </a:r>
            <a:r>
              <a:rPr lang="en-IN" dirty="0" err="1">
                <a:latin typeface="Times New Roman" panose="02020603050405020304" pitchFamily="18" charset="0"/>
                <a:cs typeface="Times New Roman" panose="02020603050405020304" pitchFamily="18" charset="0"/>
              </a:rPr>
              <a:t>Mrs.C.Vanaja</a:t>
            </a:r>
            <a:r>
              <a:rPr lang="en-IN" dirty="0">
                <a:latin typeface="Times New Roman" panose="02020603050405020304" pitchFamily="18" charset="0"/>
                <a:cs typeface="Times New Roman" panose="02020603050405020304" pitchFamily="18" charset="0"/>
              </a:rPr>
              <a:t>, Harikanth R, Sabarinath A, Naveenkumar S Conference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Name: </a:t>
            </a:r>
            <a:r>
              <a:rPr lang="en-IN" dirty="0">
                <a:latin typeface="Times New Roman" panose="02020603050405020304" pitchFamily="18" charset="0"/>
                <a:cs typeface="Times New Roman" panose="02020603050405020304" pitchFamily="18" charset="0"/>
              </a:rPr>
              <a:t>EURASIP Journal on Wireless Communications and Networking Editorial Office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Current Status:</a:t>
            </a:r>
            <a:r>
              <a:rPr lang="en-IN" dirty="0">
                <a:latin typeface="Times New Roman" panose="02020603050405020304" pitchFamily="18" charset="0"/>
                <a:cs typeface="Times New Roman" panose="02020603050405020304" pitchFamily="18" charset="0"/>
              </a:rPr>
              <a:t> Paper submitted, Not yet accepted</a:t>
            </a:r>
          </a:p>
        </p:txBody>
      </p:sp>
      <p:pic>
        <p:nvPicPr>
          <p:cNvPr id="7" name="Picture 6">
            <a:extLst>
              <a:ext uri="{FF2B5EF4-FFF2-40B4-BE49-F238E27FC236}">
                <a16:creationId xmlns:a16="http://schemas.microsoft.com/office/drawing/2014/main" id="{45FBCFD7-45A2-6B19-9E6D-C7018CF4364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655731" y="2039452"/>
            <a:ext cx="6276248" cy="3345106"/>
          </a:xfrm>
          <a:prstGeom prst="rect">
            <a:avLst/>
          </a:prstGeom>
        </p:spPr>
      </p:pic>
      <p:pic>
        <p:nvPicPr>
          <p:cNvPr id="2" name="Image 1">
            <a:extLst>
              <a:ext uri="{FF2B5EF4-FFF2-40B4-BE49-F238E27FC236}">
                <a16:creationId xmlns:a16="http://schemas.microsoft.com/office/drawing/2014/main" id="{ECA1E5C2-1B03-6B25-16AC-D0A9FB0633C3}"/>
              </a:ext>
            </a:extLst>
          </p:cNvPr>
          <p:cNvPicPr>
            <a:picLocks/>
          </p:cNvPicPr>
          <p:nvPr/>
        </p:nvPicPr>
        <p:blipFill rotWithShape="1">
          <a:blip r:embed="rId5">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85264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8614" name="Google Shape;104;p18"/>
          <p:cNvSpPr txBox="1">
            <a:spLocks noGrp="1"/>
          </p:cNvSpPr>
          <p:nvPr>
            <p:ph type="title"/>
          </p:nvPr>
        </p:nvSpPr>
        <p:spPr>
          <a:xfrm>
            <a:off x="415600" y="352436"/>
            <a:ext cx="11360800" cy="763600"/>
          </a:xfrm>
          <a:prstGeom prst="rect">
            <a:avLst/>
          </a:prstGeom>
          <a:noFill/>
          <a:ln>
            <a:noFill/>
          </a:ln>
        </p:spPr>
        <p:txBody>
          <a:bodyPr spcFirstLastPara="1" vert="horz" wrap="square" lIns="121900" tIns="121900" rIns="121900" bIns="121900" rtlCol="0" anchor="t" anchorCtr="0">
            <a:noAutofit/>
          </a:bodyPr>
          <a:lstStyle/>
          <a:p>
            <a:pPr algn="ctr">
              <a:buClr>
                <a:srgbClr val="000000"/>
              </a:buClr>
            </a:pPr>
            <a:r>
              <a:rPr lang="en-IN" b="1" dirty="0">
                <a:solidFill>
                  <a:srgbClr val="FF0000"/>
                </a:solidFill>
                <a:latin typeface="Times New Roman" panose="02020603050405020304" pitchFamily="18" charset="0"/>
                <a:cs typeface="Times New Roman" panose="02020603050405020304" pitchFamily="18" charset="0"/>
              </a:rPr>
              <a:t> References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3" name="Image 1"/>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6" name="Text Placeholder 2">
            <a:extLst>
              <a:ext uri="{FF2B5EF4-FFF2-40B4-BE49-F238E27FC236}">
                <a16:creationId xmlns:a16="http://schemas.microsoft.com/office/drawing/2014/main" id="{8A677CB5-3945-AF2D-7EE4-A79971EE8385}"/>
              </a:ext>
            </a:extLst>
          </p:cNvPr>
          <p:cNvSpPr>
            <a:spLocks noGrp="1"/>
          </p:cNvSpPr>
          <p:nvPr>
            <p:ph type="body" idx="1"/>
          </p:nvPr>
        </p:nvSpPr>
        <p:spPr>
          <a:xfrm>
            <a:off x="415600" y="1382957"/>
            <a:ext cx="11360800" cy="5167877"/>
          </a:xfrm>
        </p:spPr>
        <p:txBody>
          <a:bodyPr/>
          <a:lstStyle/>
          <a:p>
            <a:pPr marL="152396" indent="0" algn="just">
              <a:buNone/>
            </a:pPr>
            <a:r>
              <a:rPr lang="en-IN" sz="2000" dirty="0">
                <a:latin typeface="Times New Roman" panose="02020603050405020304" pitchFamily="18" charset="0"/>
                <a:cs typeface="Times New Roman" panose="02020603050405020304" pitchFamily="18" charset="0"/>
              </a:rPr>
              <a:t>[1] Shahzad, Tariq, Muhammad Saleem, Muhammad Sajid Farooq, Sagheer Abbas, Muhammad Adnan Khan, and </a:t>
            </a:r>
            <a:r>
              <a:rPr lang="en-IN" sz="2000" dirty="0" err="1">
                <a:latin typeface="Times New Roman" panose="02020603050405020304" pitchFamily="18" charset="0"/>
                <a:cs typeface="Times New Roman" panose="02020603050405020304" pitchFamily="18" charset="0"/>
              </a:rPr>
              <a:t>Khmaies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Ouahada</a:t>
            </a:r>
            <a:r>
              <a:rPr lang="en-IN" sz="2000" dirty="0">
                <a:latin typeface="Times New Roman" panose="02020603050405020304" pitchFamily="18" charset="0"/>
                <a:cs typeface="Times New Roman" panose="02020603050405020304" pitchFamily="18" charset="0"/>
              </a:rPr>
              <a:t>. "Developing a transparent diagnosis model for diabetic retinopathy using explainable AI." IEEE Access (2024).</a:t>
            </a:r>
          </a:p>
          <a:p>
            <a:pPr marL="152396" indent="0" algn="just">
              <a:buNone/>
            </a:pPr>
            <a:r>
              <a:rPr lang="en-IN" sz="2000" dirty="0">
                <a:latin typeface="Times New Roman" panose="02020603050405020304" pitchFamily="18" charset="0"/>
                <a:cs typeface="Times New Roman" panose="02020603050405020304" pitchFamily="18" charset="0"/>
              </a:rPr>
              <a:t>[2] Zhu, Shanshan, Changchun Xiong, Qingshan Zhong, and </a:t>
            </a:r>
            <a:r>
              <a:rPr lang="en-IN" sz="2000" dirty="0" err="1">
                <a:latin typeface="Times New Roman" panose="02020603050405020304" pitchFamily="18" charset="0"/>
                <a:cs typeface="Times New Roman" panose="02020603050405020304" pitchFamily="18" charset="0"/>
              </a:rPr>
              <a:t>Yudong</a:t>
            </a:r>
            <a:r>
              <a:rPr lang="en-IN" sz="2000" dirty="0">
                <a:latin typeface="Times New Roman" panose="02020603050405020304" pitchFamily="18" charset="0"/>
                <a:cs typeface="Times New Roman" panose="02020603050405020304" pitchFamily="18" charset="0"/>
              </a:rPr>
              <a:t> Yao. "Diabetic retinopathy classification with deep learning via fundus images: A short survey." IEEE Access 12 (2024): 20540-20558. </a:t>
            </a:r>
          </a:p>
          <a:p>
            <a:pPr marL="152396" indent="0" algn="just">
              <a:buNone/>
            </a:pPr>
            <a:r>
              <a:rPr lang="en-IN" sz="2000" dirty="0">
                <a:latin typeface="Times New Roman" panose="02020603050405020304" pitchFamily="18" charset="0"/>
                <a:cs typeface="Times New Roman" panose="02020603050405020304" pitchFamily="18" charset="0"/>
              </a:rPr>
              <a:t>[3] Pavithra, S., Deepika </a:t>
            </a:r>
            <a:r>
              <a:rPr lang="en-IN" sz="2000" dirty="0" err="1">
                <a:latin typeface="Times New Roman" panose="02020603050405020304" pitchFamily="18" charset="0"/>
                <a:cs typeface="Times New Roman" panose="02020603050405020304" pitchFamily="18" charset="0"/>
              </a:rPr>
              <a:t>Jaladi</a:t>
            </a:r>
            <a:r>
              <a:rPr lang="en-IN" sz="2000" dirty="0">
                <a:latin typeface="Times New Roman" panose="02020603050405020304" pitchFamily="18" charset="0"/>
                <a:cs typeface="Times New Roman" panose="02020603050405020304" pitchFamily="18" charset="0"/>
              </a:rPr>
              <a:t>, and K. Tamilarasi. "Optical imaging for diabetic retinopathy diagnosis and detection using ensemble models." </a:t>
            </a:r>
            <a:r>
              <a:rPr lang="en-IN" sz="2000" dirty="0" err="1">
                <a:latin typeface="Times New Roman" panose="02020603050405020304" pitchFamily="18" charset="0"/>
                <a:cs typeface="Times New Roman" panose="02020603050405020304" pitchFamily="18" charset="0"/>
              </a:rPr>
              <a:t>Photodiagnosis</a:t>
            </a:r>
            <a:r>
              <a:rPr lang="en-IN" sz="2000" dirty="0">
                <a:latin typeface="Times New Roman" panose="02020603050405020304" pitchFamily="18" charset="0"/>
                <a:cs typeface="Times New Roman" panose="02020603050405020304" pitchFamily="18" charset="0"/>
              </a:rPr>
              <a:t> and Photodynamic Therapy 48 (2024): 104259. </a:t>
            </a:r>
          </a:p>
          <a:p>
            <a:pPr marL="152396" indent="0" algn="just">
              <a:buNone/>
            </a:pPr>
            <a:r>
              <a:rPr lang="en-IN" sz="2000" dirty="0">
                <a:latin typeface="Times New Roman" panose="02020603050405020304" pitchFamily="18" charset="0"/>
                <a:cs typeface="Times New Roman" panose="02020603050405020304" pitchFamily="18" charset="0"/>
              </a:rPr>
              <a:t>[4] Alavee, Kazi Ahnaf, Mehedi Hasan, Abu </a:t>
            </a:r>
            <a:r>
              <a:rPr lang="en-IN" sz="2000" dirty="0" err="1">
                <a:latin typeface="Times New Roman" panose="02020603050405020304" pitchFamily="18" charset="0"/>
                <a:cs typeface="Times New Roman" panose="02020603050405020304" pitchFamily="18" charset="0"/>
              </a:rPr>
              <a:t>Hasnayen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Zillanee</a:t>
            </a:r>
            <a:r>
              <a:rPr lang="en-IN" sz="2000" dirty="0">
                <a:latin typeface="Times New Roman" panose="02020603050405020304" pitchFamily="18" charset="0"/>
                <a:cs typeface="Times New Roman" panose="02020603050405020304" pitchFamily="18" charset="0"/>
              </a:rPr>
              <a:t>, Moin </a:t>
            </a:r>
            <a:r>
              <a:rPr lang="en-IN" sz="2000" dirty="0" err="1">
                <a:latin typeface="Times New Roman" panose="02020603050405020304" pitchFamily="18" charset="0"/>
                <a:cs typeface="Times New Roman" panose="02020603050405020304" pitchFamily="18" charset="0"/>
              </a:rPr>
              <a:t>Mostakim</a:t>
            </a:r>
            <a:r>
              <a:rPr lang="en-IN" sz="2000" dirty="0">
                <a:latin typeface="Times New Roman" panose="02020603050405020304" pitchFamily="18" charset="0"/>
                <a:cs typeface="Times New Roman" panose="02020603050405020304" pitchFamily="18" charset="0"/>
              </a:rPr>
              <a:t>, Jia Uddin, Eduardo Silva Alvarado, Isabel de la Torre Diez, Imran Ashraf, and Md Abdus Samad. "Enhancing early detection of diabetic retinopathy through the integration of deep learning models and explainable artificial intelligence." IEEE Access 12 (2024): 73950-73969. </a:t>
            </a:r>
          </a:p>
          <a:p>
            <a:pPr marL="152396" indent="0" algn="just">
              <a:buNone/>
            </a:pPr>
            <a:r>
              <a:rPr lang="en-IN" sz="2000" dirty="0">
                <a:latin typeface="Times New Roman" panose="02020603050405020304" pitchFamily="18" charset="0"/>
                <a:cs typeface="Times New Roman" panose="02020603050405020304" pitchFamily="18" charset="0"/>
              </a:rPr>
              <a:t>[5] Gao, </a:t>
            </a:r>
            <a:r>
              <a:rPr lang="en-IN" sz="2000" dirty="0" err="1">
                <a:latin typeface="Times New Roman" panose="02020603050405020304" pitchFamily="18" charset="0"/>
                <a:cs typeface="Times New Roman" panose="02020603050405020304" pitchFamily="18" charset="0"/>
              </a:rPr>
              <a:t>Zhentao</a:t>
            </a:r>
            <a:r>
              <a:rPr lang="en-IN" sz="2000" dirty="0">
                <a:latin typeface="Times New Roman" panose="02020603050405020304" pitchFamily="18" charset="0"/>
                <a:cs typeface="Times New Roman" panose="02020603050405020304" pitchFamily="18" charset="0"/>
              </a:rPr>
              <a:t>, Jie Li, Jixiang Guo, Yuanyuan Chen, Zhang Yi, and Jie Zhong. "Diagnosis of diabetic retinopathy using deep neural networks." IEEE Access 7 (2018): 3360-3370.</a:t>
            </a:r>
          </a:p>
          <a:p>
            <a:pPr marL="152396" indent="0" algn="just">
              <a:buNone/>
            </a:pPr>
            <a:endParaRPr lang="en-IN" sz="2000" dirty="0">
              <a:latin typeface="Times New Roman" panose="02020603050405020304" pitchFamily="18" charset="0"/>
              <a:cs typeface="Times New Roman" panose="02020603050405020304" pitchFamily="18" charset="0"/>
            </a:endParaRPr>
          </a:p>
          <a:p>
            <a:pPr marL="152396" indent="0" algn="just">
              <a:buNone/>
            </a:pPr>
            <a:endParaRPr lang="en-IN" sz="2000" dirty="0">
              <a:latin typeface="Times New Roman" panose="02020603050405020304" pitchFamily="18" charset="0"/>
              <a:cs typeface="Times New Roman" panose="02020603050405020304" pitchFamily="18" charset="0"/>
            </a:endParaRPr>
          </a:p>
          <a:p>
            <a:pPr marL="152396" indent="0" algn="just">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ECBAC77-C34E-7CAA-43E1-0C0FBB0171F8}"/>
              </a:ext>
            </a:extLst>
          </p:cNvPr>
          <p:cNvSpPr>
            <a:spLocks noGrp="1"/>
          </p:cNvSpPr>
          <p:nvPr>
            <p:ph type="sldNum" idx="12"/>
          </p:nvPr>
        </p:nvSpPr>
        <p:spPr/>
        <p:txBody>
          <a:bodyPr/>
          <a:lstStyle/>
          <a:p>
            <a:fld id="{00000000-1234-1234-1234-123412341234}" type="slidenum">
              <a:rPr lang="en" smtClean="0"/>
              <a:t>32</a:t>
            </a:fld>
            <a:endParaRPr lang="en"/>
          </a:p>
        </p:txBody>
      </p:sp>
      <p:pic>
        <p:nvPicPr>
          <p:cNvPr id="3" name="Image 1">
            <a:extLst>
              <a:ext uri="{FF2B5EF4-FFF2-40B4-BE49-F238E27FC236}">
                <a16:creationId xmlns:a16="http://schemas.microsoft.com/office/drawing/2014/main" id="{64D6A50B-523F-17CE-1A36-AB43FF62E831}"/>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F1FCDDF1-50DB-2D14-629B-3AFFADB0FF26}"/>
            </a:ext>
          </a:extLst>
        </p:cNvPr>
        <p:cNvGrpSpPr/>
        <p:nvPr/>
      </p:nvGrpSpPr>
      <p:grpSpPr>
        <a:xfrm>
          <a:off x="0" y="0"/>
          <a:ext cx="0" cy="0"/>
          <a:chOff x="0" y="0"/>
          <a:chExt cx="0" cy="0"/>
        </a:xfrm>
      </p:grpSpPr>
      <p:sp>
        <p:nvSpPr>
          <p:cNvPr id="1048614" name="Google Shape;104;p18">
            <a:extLst>
              <a:ext uri="{FF2B5EF4-FFF2-40B4-BE49-F238E27FC236}">
                <a16:creationId xmlns:a16="http://schemas.microsoft.com/office/drawing/2014/main" id="{329594E8-7A55-80E9-6D38-F92BF0AD275E}"/>
              </a:ext>
            </a:extLst>
          </p:cNvPr>
          <p:cNvSpPr txBox="1">
            <a:spLocks noGrp="1"/>
          </p:cNvSpPr>
          <p:nvPr>
            <p:ph type="title"/>
          </p:nvPr>
        </p:nvSpPr>
        <p:spPr>
          <a:xfrm>
            <a:off x="415600" y="352436"/>
            <a:ext cx="11360800" cy="763600"/>
          </a:xfrm>
          <a:prstGeom prst="rect">
            <a:avLst/>
          </a:prstGeom>
          <a:noFill/>
          <a:ln>
            <a:noFill/>
          </a:ln>
        </p:spPr>
        <p:txBody>
          <a:bodyPr spcFirstLastPara="1" vert="horz" wrap="square" lIns="121900" tIns="121900" rIns="121900" bIns="121900" rtlCol="0" anchor="t" anchorCtr="0">
            <a:noAutofit/>
          </a:bodyPr>
          <a:lstStyle/>
          <a:p>
            <a:pPr algn="ctr">
              <a:buClr>
                <a:srgbClr val="000000"/>
              </a:buClr>
            </a:pPr>
            <a:r>
              <a:rPr lang="en-IN" b="1" dirty="0">
                <a:solidFill>
                  <a:srgbClr val="FF0000"/>
                </a:solidFill>
                <a:latin typeface="Times New Roman" panose="02020603050405020304" pitchFamily="18" charset="0"/>
                <a:cs typeface="Times New Roman" panose="02020603050405020304" pitchFamily="18" charset="0"/>
              </a:rPr>
              <a:t> References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3" name="Image 1">
            <a:extLst>
              <a:ext uri="{FF2B5EF4-FFF2-40B4-BE49-F238E27FC236}">
                <a16:creationId xmlns:a16="http://schemas.microsoft.com/office/drawing/2014/main" id="{E92DFF2E-F77F-AD95-5754-09F2EB5AB537}"/>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6" name="Text Placeholder 2">
            <a:extLst>
              <a:ext uri="{FF2B5EF4-FFF2-40B4-BE49-F238E27FC236}">
                <a16:creationId xmlns:a16="http://schemas.microsoft.com/office/drawing/2014/main" id="{2C5C8F5D-D746-D903-4826-2E392C6ED914}"/>
              </a:ext>
            </a:extLst>
          </p:cNvPr>
          <p:cNvSpPr>
            <a:spLocks noGrp="1"/>
          </p:cNvSpPr>
          <p:nvPr>
            <p:ph type="body" idx="1"/>
          </p:nvPr>
        </p:nvSpPr>
        <p:spPr>
          <a:xfrm>
            <a:off x="415600" y="1536469"/>
            <a:ext cx="11360800" cy="4969095"/>
          </a:xfrm>
        </p:spPr>
        <p:txBody>
          <a:bodyPr/>
          <a:lstStyle/>
          <a:p>
            <a:pPr marL="152396" indent="0" algn="just">
              <a:buNone/>
            </a:pPr>
            <a:r>
              <a:rPr lang="en-IN" sz="2000" dirty="0">
                <a:latin typeface="Times New Roman" panose="02020603050405020304" pitchFamily="18" charset="0"/>
                <a:cs typeface="Times New Roman" panose="02020603050405020304" pitchFamily="18" charset="0"/>
              </a:rPr>
              <a:t>[6] </a:t>
            </a:r>
            <a:r>
              <a:rPr lang="en-IN" sz="2000" dirty="0" err="1">
                <a:latin typeface="Times New Roman" panose="02020603050405020304" pitchFamily="18" charset="0"/>
                <a:cs typeface="Times New Roman" panose="02020603050405020304" pitchFamily="18" charset="0"/>
              </a:rPr>
              <a:t>Albelaihi</a:t>
            </a:r>
            <a:r>
              <a:rPr lang="en-IN" sz="2000" dirty="0">
                <a:latin typeface="Times New Roman" panose="02020603050405020304" pitchFamily="18" charset="0"/>
                <a:cs typeface="Times New Roman" panose="02020603050405020304" pitchFamily="18" charset="0"/>
              </a:rPr>
              <a:t>, Arwa, and Dina M. Ibrahim. "</a:t>
            </a:r>
            <a:r>
              <a:rPr lang="en-IN" sz="2000" dirty="0" err="1">
                <a:latin typeface="Times New Roman" panose="02020603050405020304" pitchFamily="18" charset="0"/>
                <a:cs typeface="Times New Roman" panose="02020603050405020304" pitchFamily="18" charset="0"/>
              </a:rPr>
              <a:t>DeepDiabetic</a:t>
            </a:r>
            <a:r>
              <a:rPr lang="en-IN" sz="2000" dirty="0">
                <a:latin typeface="Times New Roman" panose="02020603050405020304" pitchFamily="18" charset="0"/>
                <a:cs typeface="Times New Roman" panose="02020603050405020304" pitchFamily="18" charset="0"/>
              </a:rPr>
              <a:t>: an identification system of diabetic eye diseases using deep neural networks." IEEE Access 12 (2024): 10769-10789.</a:t>
            </a:r>
          </a:p>
          <a:p>
            <a:pPr marL="152396" indent="0" algn="just">
              <a:buNone/>
            </a:pPr>
            <a:r>
              <a:rPr lang="en-IN" sz="2000" dirty="0">
                <a:latin typeface="Times New Roman" panose="02020603050405020304" pitchFamily="18" charset="0"/>
                <a:cs typeface="Times New Roman" panose="02020603050405020304" pitchFamily="18" charset="0"/>
              </a:rPr>
              <a:t>[7] </a:t>
            </a:r>
            <a:r>
              <a:rPr lang="en-IN" sz="2000" dirty="0" err="1">
                <a:latin typeface="Times New Roman" panose="02020603050405020304" pitchFamily="18" charset="0"/>
                <a:cs typeface="Times New Roman" panose="02020603050405020304" pitchFamily="18" charset="0"/>
              </a:rPr>
              <a:t>Abushawish</a:t>
            </a:r>
            <a:r>
              <a:rPr lang="en-IN" sz="2000" dirty="0">
                <a:latin typeface="Times New Roman" panose="02020603050405020304" pitchFamily="18" charset="0"/>
                <a:cs typeface="Times New Roman" panose="02020603050405020304" pitchFamily="18" charset="0"/>
              </a:rPr>
              <a:t>, Israa Y., Sudipta Modak, Esam Abdel-Raheem, Soliman A. Mahmoud, and Abir Jaafar Hussain. "Deep learning in automatic diabetic retinopathy detection and grading systems: a comprehensive survey and comparison of methods." IEEE Access 12 (2024): 84785-84802.</a:t>
            </a:r>
          </a:p>
          <a:p>
            <a:pPr marL="152396" indent="0" algn="just">
              <a:buNone/>
            </a:pPr>
            <a:r>
              <a:rPr lang="en-IN" sz="2000" dirty="0">
                <a:latin typeface="Times New Roman" panose="02020603050405020304" pitchFamily="18" charset="0"/>
                <a:cs typeface="Times New Roman" panose="02020603050405020304" pitchFamily="18" charset="0"/>
              </a:rPr>
              <a:t>[8] Nazir, Kinza, Jisoo Kim, and Yung-Cheol Byun. "Enhancing early-stage diabetic retinopathy detection using a weighted ensemble of deep neural networks." IEEE Access (2024).</a:t>
            </a:r>
          </a:p>
          <a:p>
            <a:pPr marL="152396" indent="0" algn="just">
              <a:buNone/>
            </a:pPr>
            <a:r>
              <a:rPr lang="en-IN" sz="2000" dirty="0">
                <a:latin typeface="Times New Roman" panose="02020603050405020304" pitchFamily="18" charset="0"/>
                <a:cs typeface="Times New Roman" panose="02020603050405020304" pitchFamily="18" charset="0"/>
              </a:rPr>
              <a:t>[9] Wang, Xu, </a:t>
            </a:r>
            <a:r>
              <a:rPr lang="en-IN" sz="2000" dirty="0" err="1">
                <a:latin typeface="Times New Roman" panose="02020603050405020304" pitchFamily="18" charset="0"/>
                <a:cs typeface="Times New Roman" panose="02020603050405020304" pitchFamily="18" charset="0"/>
              </a:rPr>
              <a:t>Weijie</a:t>
            </a:r>
            <a:r>
              <a:rPr lang="en-IN" sz="2000" dirty="0">
                <a:latin typeface="Times New Roman" panose="02020603050405020304" pitchFamily="18" charset="0"/>
                <a:cs typeface="Times New Roman" panose="02020603050405020304" pitchFamily="18" charset="0"/>
              </a:rPr>
              <a:t> Wang, Huiling Ren, Xiaoying Li, and Yili Wen. "Prediction and analysis of risk factors for diabetic retinopathy based on machine learning and interpretable models." </a:t>
            </a:r>
            <a:r>
              <a:rPr lang="en-IN" sz="2000" dirty="0" err="1">
                <a:latin typeface="Times New Roman" panose="02020603050405020304" pitchFamily="18" charset="0"/>
                <a:cs typeface="Times New Roman" panose="02020603050405020304" pitchFamily="18" charset="0"/>
              </a:rPr>
              <a:t>Heliyon</a:t>
            </a:r>
            <a:r>
              <a:rPr lang="en-IN" sz="2000" dirty="0">
                <a:latin typeface="Times New Roman" panose="02020603050405020304" pitchFamily="18" charset="0"/>
                <a:cs typeface="Times New Roman" panose="02020603050405020304" pitchFamily="18" charset="0"/>
              </a:rPr>
              <a:t> 10, no. 9 (2024).</a:t>
            </a:r>
          </a:p>
          <a:p>
            <a:pPr marL="152396" indent="0" algn="just">
              <a:buNone/>
            </a:pPr>
            <a:r>
              <a:rPr lang="en-IN" sz="2000" dirty="0">
                <a:latin typeface="Times New Roman" panose="02020603050405020304" pitchFamily="18" charset="0"/>
                <a:cs typeface="Times New Roman" panose="02020603050405020304" pitchFamily="18" charset="0"/>
              </a:rPr>
              <a:t>[10] Pratt, Harry, Frans Coenen, Deborah M. Broadbent, Simon P. Harding, and </a:t>
            </a:r>
            <a:r>
              <a:rPr lang="en-IN" sz="2000" dirty="0" err="1">
                <a:latin typeface="Times New Roman" panose="02020603050405020304" pitchFamily="18" charset="0"/>
                <a:cs typeface="Times New Roman" panose="02020603050405020304" pitchFamily="18" charset="0"/>
              </a:rPr>
              <a:t>Yalin</a:t>
            </a:r>
            <a:r>
              <a:rPr lang="en-IN" sz="2000" dirty="0">
                <a:latin typeface="Times New Roman" panose="02020603050405020304" pitchFamily="18" charset="0"/>
                <a:cs typeface="Times New Roman" panose="02020603050405020304" pitchFamily="18" charset="0"/>
              </a:rPr>
              <a:t> Zheng. "Convolutional neural networks for diabetic retinopathy." Procedia computer science 90 (2016): 200-205.</a:t>
            </a:r>
          </a:p>
          <a:p>
            <a:pPr marL="152396" indent="0" algn="just">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D4CDDD34-98E4-F51F-1FF5-F9151504339B}"/>
              </a:ext>
            </a:extLst>
          </p:cNvPr>
          <p:cNvSpPr>
            <a:spLocks noGrp="1"/>
          </p:cNvSpPr>
          <p:nvPr>
            <p:ph type="sldNum" idx="12"/>
          </p:nvPr>
        </p:nvSpPr>
        <p:spPr/>
        <p:txBody>
          <a:bodyPr/>
          <a:lstStyle/>
          <a:p>
            <a:fld id="{00000000-1234-1234-1234-123412341234}" type="slidenum">
              <a:rPr lang="en" smtClean="0"/>
              <a:t>33</a:t>
            </a:fld>
            <a:endParaRPr lang="en"/>
          </a:p>
        </p:txBody>
      </p:sp>
      <p:pic>
        <p:nvPicPr>
          <p:cNvPr id="3" name="Image 1">
            <a:extLst>
              <a:ext uri="{FF2B5EF4-FFF2-40B4-BE49-F238E27FC236}">
                <a16:creationId xmlns:a16="http://schemas.microsoft.com/office/drawing/2014/main" id="{030F8986-7BD6-EC57-E8FC-27DFFD592AC2}"/>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1694872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A79859E-9947-8841-E94E-33A0B8F9515E}"/>
            </a:ext>
          </a:extLst>
        </p:cNvPr>
        <p:cNvGrpSpPr/>
        <p:nvPr/>
      </p:nvGrpSpPr>
      <p:grpSpPr>
        <a:xfrm>
          <a:off x="0" y="0"/>
          <a:ext cx="0" cy="0"/>
          <a:chOff x="0" y="0"/>
          <a:chExt cx="0" cy="0"/>
        </a:xfrm>
      </p:grpSpPr>
      <p:sp>
        <p:nvSpPr>
          <p:cNvPr id="1048614" name="Google Shape;104;p18">
            <a:extLst>
              <a:ext uri="{FF2B5EF4-FFF2-40B4-BE49-F238E27FC236}">
                <a16:creationId xmlns:a16="http://schemas.microsoft.com/office/drawing/2014/main" id="{2F0EB510-ABC3-8169-93D4-CBAA7B7B1690}"/>
              </a:ext>
            </a:extLst>
          </p:cNvPr>
          <p:cNvSpPr txBox="1">
            <a:spLocks noGrp="1"/>
          </p:cNvSpPr>
          <p:nvPr>
            <p:ph type="title"/>
          </p:nvPr>
        </p:nvSpPr>
        <p:spPr>
          <a:xfrm>
            <a:off x="415600" y="352436"/>
            <a:ext cx="11360800" cy="763600"/>
          </a:xfrm>
          <a:prstGeom prst="rect">
            <a:avLst/>
          </a:prstGeom>
          <a:noFill/>
          <a:ln>
            <a:noFill/>
          </a:ln>
        </p:spPr>
        <p:txBody>
          <a:bodyPr spcFirstLastPara="1" vert="horz" wrap="square" lIns="121900" tIns="121900" rIns="121900" bIns="121900" rtlCol="0" anchor="t" anchorCtr="0">
            <a:noAutofit/>
          </a:bodyPr>
          <a:lstStyle/>
          <a:p>
            <a:pPr algn="ctr">
              <a:buClr>
                <a:srgbClr val="000000"/>
              </a:buClr>
            </a:pPr>
            <a:r>
              <a:rPr lang="en-IN" b="1" dirty="0">
                <a:solidFill>
                  <a:srgbClr val="FF0000"/>
                </a:solidFill>
                <a:latin typeface="Times New Roman" panose="02020603050405020304" pitchFamily="18" charset="0"/>
                <a:cs typeface="Times New Roman" panose="02020603050405020304" pitchFamily="18" charset="0"/>
              </a:rPr>
              <a:t> References</a:t>
            </a:r>
            <a:endParaRPr b="1" dirty="0">
              <a:solidFill>
                <a:srgbClr val="FF0000"/>
              </a:solidFill>
              <a:latin typeface="Times New Roman" panose="02020603050405020304" pitchFamily="18" charset="0"/>
              <a:cs typeface="Times New Roman" panose="02020603050405020304" pitchFamily="18" charset="0"/>
            </a:endParaRPr>
          </a:p>
        </p:txBody>
      </p:sp>
      <p:pic>
        <p:nvPicPr>
          <p:cNvPr id="2097163" name="Image 1">
            <a:extLst>
              <a:ext uri="{FF2B5EF4-FFF2-40B4-BE49-F238E27FC236}">
                <a16:creationId xmlns:a16="http://schemas.microsoft.com/office/drawing/2014/main" id="{60C6015E-6422-3E44-54DD-4473248986A2}"/>
              </a:ext>
            </a:extLst>
          </p:cNvPr>
          <p:cNvPicPr>
            <a:picLocks/>
          </p:cNvPicPr>
          <p:nvPr/>
        </p:nvPicPr>
        <p:blipFill rotWithShape="1">
          <a:blip r:embed="rId3" cstate="print"/>
          <a:srcRect r="80586"/>
          <a:stretch>
            <a:fillRect/>
          </a:stretch>
        </p:blipFill>
        <p:spPr>
          <a:xfrm>
            <a:off x="251051" y="209192"/>
            <a:ext cx="1022577" cy="971550"/>
          </a:xfrm>
          <a:prstGeom prst="rect">
            <a:avLst/>
          </a:prstGeom>
        </p:spPr>
      </p:pic>
      <p:sp>
        <p:nvSpPr>
          <p:cNvPr id="6" name="Text Placeholder 2">
            <a:extLst>
              <a:ext uri="{FF2B5EF4-FFF2-40B4-BE49-F238E27FC236}">
                <a16:creationId xmlns:a16="http://schemas.microsoft.com/office/drawing/2014/main" id="{CB286C9A-5B5C-496C-664C-61B56CC5D409}"/>
              </a:ext>
            </a:extLst>
          </p:cNvPr>
          <p:cNvSpPr>
            <a:spLocks noGrp="1"/>
          </p:cNvSpPr>
          <p:nvPr>
            <p:ph type="body" idx="1"/>
          </p:nvPr>
        </p:nvSpPr>
        <p:spPr>
          <a:xfrm>
            <a:off x="415600" y="1382957"/>
            <a:ext cx="11360800" cy="5167877"/>
          </a:xfrm>
        </p:spPr>
        <p:txBody>
          <a:bodyPr/>
          <a:lstStyle/>
          <a:p>
            <a:pPr marL="152396" indent="0" algn="just">
              <a:buNone/>
            </a:pPr>
            <a:r>
              <a:rPr lang="en-IN" sz="2000" dirty="0">
                <a:latin typeface="Times New Roman" panose="02020603050405020304" pitchFamily="18" charset="0"/>
                <a:cs typeface="Times New Roman" panose="02020603050405020304" pitchFamily="18" charset="0"/>
              </a:rPr>
              <a:t>[11] Rajarajeshwari, G., and G. </a:t>
            </a:r>
            <a:r>
              <a:rPr lang="en-IN" sz="2000" dirty="0" err="1">
                <a:latin typeface="Times New Roman" panose="02020603050405020304" pitchFamily="18" charset="0"/>
                <a:cs typeface="Times New Roman" panose="02020603050405020304" pitchFamily="18" charset="0"/>
              </a:rPr>
              <a:t>Chemmalar</a:t>
            </a:r>
            <a:r>
              <a:rPr lang="en-IN" sz="2000" dirty="0">
                <a:latin typeface="Times New Roman" panose="02020603050405020304" pitchFamily="18" charset="0"/>
                <a:cs typeface="Times New Roman" panose="02020603050405020304" pitchFamily="18" charset="0"/>
              </a:rPr>
              <a:t> Selvi. "Application of artificial intelligence for classification, segmentation, early detection, early diagnosis, and grading of diabetic retinopathy from fundus retinal images: a comprehensive review." IEEE Access (2024).</a:t>
            </a:r>
          </a:p>
          <a:p>
            <a:pPr marL="152396" indent="0" algn="just">
              <a:buNone/>
            </a:pPr>
            <a:r>
              <a:rPr lang="en-IN" sz="2000" dirty="0">
                <a:latin typeface="Times New Roman" panose="02020603050405020304" pitchFamily="18" charset="0"/>
                <a:cs typeface="Times New Roman" panose="02020603050405020304" pitchFamily="18" charset="0"/>
              </a:rPr>
              <a:t>[12] Asif, Malaika, Fasih Ur Rehman, Zoya Rashid, Altaf Hussain, Alina Mirza, and Waqar Shahid Qureshi. "An Insight on the Timely Diagnosis of Diabetic Retinopathy using Traditional and AI-Driven Approaches." IEEE Access (2025)..</a:t>
            </a:r>
          </a:p>
          <a:p>
            <a:pPr marL="152396" indent="0" algn="just">
              <a:buNone/>
            </a:pPr>
            <a:r>
              <a:rPr lang="en-IN" sz="2000" dirty="0">
                <a:latin typeface="Times New Roman" panose="02020603050405020304" pitchFamily="18" charset="0"/>
                <a:cs typeface="Times New Roman" panose="02020603050405020304" pitchFamily="18" charset="0"/>
              </a:rPr>
              <a:t>[13] Prathibha, S. "Advancing diabetic retinopathy diagnosis with fundus imaging: A comprehensive survey of computer-aided detection, grading and classification methods." Global Transitions 6 (2024): 93-112. </a:t>
            </a:r>
          </a:p>
          <a:p>
            <a:pPr marL="152396" indent="0" algn="just">
              <a:buNone/>
            </a:pPr>
            <a:r>
              <a:rPr lang="en-IN" sz="2000" dirty="0">
                <a:latin typeface="Times New Roman" panose="02020603050405020304" pitchFamily="18" charset="0"/>
                <a:cs typeface="Times New Roman" panose="02020603050405020304" pitchFamily="18" charset="0"/>
              </a:rPr>
              <a:t>[14] Ikram, Amna, Azhar Imran, </a:t>
            </a:r>
            <a:r>
              <a:rPr lang="en-IN" sz="2000" dirty="0" err="1">
                <a:latin typeface="Times New Roman" panose="02020603050405020304" pitchFamily="18" charset="0"/>
                <a:cs typeface="Times New Roman" panose="02020603050405020304" pitchFamily="18" charset="0"/>
              </a:rPr>
              <a:t>Jianqiang</a:t>
            </a:r>
            <a:r>
              <a:rPr lang="en-IN" sz="2000" dirty="0">
                <a:latin typeface="Times New Roman" panose="02020603050405020304" pitchFamily="18" charset="0"/>
                <a:cs typeface="Times New Roman" panose="02020603050405020304" pitchFamily="18" charset="0"/>
              </a:rPr>
              <a:t> Li, Abdulaziz Alzubaidi, Safa Fahim, Amanullah Yasin, and Hanaa Fathi. "A systematic review on fundus image-based diabetic retinopathy detection and grading: Current status and future directions." IEEE Access (2024).</a:t>
            </a:r>
          </a:p>
          <a:p>
            <a:pPr marL="152396" indent="0" algn="just">
              <a:buNone/>
            </a:pPr>
            <a:r>
              <a:rPr lang="en-IN" sz="2000" dirty="0">
                <a:latin typeface="Times New Roman" panose="02020603050405020304" pitchFamily="18" charset="0"/>
                <a:cs typeface="Times New Roman" panose="02020603050405020304" pitchFamily="18" charset="0"/>
              </a:rPr>
              <a:t>[15] Ng, Jun Chen, Pauline Shan Qing Yeoh, Li Bing, Xiang Wu, Khairunnisa </a:t>
            </a:r>
            <a:r>
              <a:rPr lang="en-IN" sz="2000" dirty="0" err="1">
                <a:latin typeface="Times New Roman" panose="02020603050405020304" pitchFamily="18" charset="0"/>
                <a:cs typeface="Times New Roman" panose="02020603050405020304" pitchFamily="18" charset="0"/>
              </a:rPr>
              <a:t>Hasikin</a:t>
            </a:r>
            <a:r>
              <a:rPr lang="en-IN" sz="2000" dirty="0">
                <a:latin typeface="Times New Roman" panose="02020603050405020304" pitchFamily="18" charset="0"/>
                <a:cs typeface="Times New Roman" panose="02020603050405020304" pitchFamily="18" charset="0"/>
              </a:rPr>
              <a:t>, and Khin Wee Lai. "A privacy-preserving approach using deep learning models for diabetic retinopathy diagnosis." IEEE Access (2024).</a:t>
            </a:r>
          </a:p>
          <a:p>
            <a:pPr marL="152396" indent="0" algn="just">
              <a:buNone/>
            </a:pPr>
            <a:endParaRPr lang="en-US" sz="20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BF9EF4C-353D-BEB9-0B0C-D040261C9B94}"/>
              </a:ext>
            </a:extLst>
          </p:cNvPr>
          <p:cNvSpPr>
            <a:spLocks noGrp="1"/>
          </p:cNvSpPr>
          <p:nvPr>
            <p:ph type="sldNum" idx="12"/>
          </p:nvPr>
        </p:nvSpPr>
        <p:spPr/>
        <p:txBody>
          <a:bodyPr/>
          <a:lstStyle/>
          <a:p>
            <a:fld id="{00000000-1234-1234-1234-123412341234}" type="slidenum">
              <a:rPr lang="en" smtClean="0"/>
              <a:t>34</a:t>
            </a:fld>
            <a:endParaRPr lang="en"/>
          </a:p>
        </p:txBody>
      </p:sp>
      <p:pic>
        <p:nvPicPr>
          <p:cNvPr id="3" name="Image 1">
            <a:extLst>
              <a:ext uri="{FF2B5EF4-FFF2-40B4-BE49-F238E27FC236}">
                <a16:creationId xmlns:a16="http://schemas.microsoft.com/office/drawing/2014/main" id="{D9E89612-C161-3555-43D6-141DC1068015}"/>
              </a:ext>
            </a:extLst>
          </p:cNvPr>
          <p:cNvPicPr>
            <a:picLocks/>
          </p:cNvPicPr>
          <p:nvPr/>
        </p:nvPicPr>
        <p:blipFill rotWithShape="1">
          <a:blip r:embed="rId4">
            <a:extLst>
              <a:ext uri="{28A0092B-C50C-407E-A947-70E740481C1C}">
                <a14:useLocalDpi xmlns:a14="http://schemas.microsoft.com/office/drawing/2010/main" val="0"/>
              </a:ext>
            </a:extLst>
          </a:blip>
          <a:srcRect l="919" r="-562" b="1637"/>
          <a:stretch>
            <a:fillRect/>
          </a:stretch>
        </p:blipFill>
        <p:spPr>
          <a:xfrm>
            <a:off x="11023471" y="230213"/>
            <a:ext cx="858029" cy="763600"/>
          </a:xfrm>
          <a:prstGeom prst="rect">
            <a:avLst/>
          </a:prstGeom>
        </p:spPr>
      </p:pic>
    </p:spTree>
    <p:extLst>
      <p:ext uri="{BB962C8B-B14F-4D97-AF65-F5344CB8AC3E}">
        <p14:creationId xmlns:p14="http://schemas.microsoft.com/office/powerpoint/2010/main" val="42778014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048630" name="Google Shape;115;p20"/>
          <p:cNvSpPr txBox="1">
            <a:spLocks noGrp="1"/>
          </p:cNvSpPr>
          <p:nvPr>
            <p:ph type="body" idx="1"/>
          </p:nvPr>
        </p:nvSpPr>
        <p:spPr>
          <a:xfrm>
            <a:off x="415600" y="1997764"/>
            <a:ext cx="11360800" cy="3867859"/>
          </a:xfrm>
          <a:prstGeom prst="rect">
            <a:avLst/>
          </a:prstGeom>
        </p:spPr>
        <p:txBody>
          <a:bodyPr spcFirstLastPara="1" vert="horz" wrap="square" lIns="121900" tIns="121900" rIns="121900" bIns="121900" rtlCol="0" anchor="t" anchorCtr="0">
            <a:noAutofit/>
          </a:bodyPr>
          <a:lstStyle/>
          <a:p>
            <a:pPr marL="0" indent="0" algn="ctr">
              <a:buNone/>
            </a:pPr>
            <a:endParaRPr sz="6600" b="1" dirty="0">
              <a:solidFill>
                <a:srgbClr val="34429B"/>
              </a:solidFill>
              <a:latin typeface="Times New Roman" panose="02020603050405020304" pitchFamily="18" charset="0"/>
              <a:cs typeface="Times New Roman" panose="02020603050405020304" pitchFamily="18" charset="0"/>
            </a:endParaRPr>
          </a:p>
          <a:p>
            <a:pPr marL="0" indent="0" algn="ctr">
              <a:buNone/>
            </a:pPr>
            <a:r>
              <a:rPr lang="en" sz="6000" b="1" dirty="0">
                <a:solidFill>
                  <a:srgbClr val="FF0000"/>
                </a:solidFill>
                <a:latin typeface="Times New Roman" panose="02020603050405020304" pitchFamily="18" charset="0"/>
                <a:cs typeface="Times New Roman" panose="02020603050405020304" pitchFamily="18" charset="0"/>
              </a:rPr>
              <a:t>THANK YOU </a:t>
            </a:r>
            <a:endParaRPr sz="6000" b="1" dirty="0">
              <a:solidFill>
                <a:srgbClr val="FF0000"/>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5CCC6CBE-DB76-2410-A1CF-FBDE7996782A}"/>
              </a:ext>
            </a:extLst>
          </p:cNvPr>
          <p:cNvSpPr>
            <a:spLocks noGrp="1"/>
          </p:cNvSpPr>
          <p:nvPr>
            <p:ph type="sldNum" idx="12"/>
          </p:nvPr>
        </p:nvSpPr>
        <p:spPr/>
        <p:txBody>
          <a:bodyPr/>
          <a:lstStyle/>
          <a:p>
            <a:fld id="{00000000-1234-1234-1234-123412341234}" type="slidenum">
              <a:rPr lang="en" smtClean="0"/>
              <a:t>35</a:t>
            </a:fld>
            <a:endParaRPr lang="en"/>
          </a:p>
        </p:txBody>
      </p:sp>
      <p:pic>
        <p:nvPicPr>
          <p:cNvPr id="4" name="Picture 3">
            <a:extLst>
              <a:ext uri="{FF2B5EF4-FFF2-40B4-BE49-F238E27FC236}">
                <a16:creationId xmlns:a16="http://schemas.microsoft.com/office/drawing/2014/main" id="{4C58B08F-0D40-C93E-0B5E-E2AF52FCA856}"/>
              </a:ext>
            </a:extLst>
          </p:cNvPr>
          <p:cNvPicPr>
            <a:picLocks noChangeAspect="1"/>
          </p:cNvPicPr>
          <p:nvPr/>
        </p:nvPicPr>
        <p:blipFill>
          <a:blip r:embed="rId3"/>
          <a:stretch>
            <a:fillRect/>
          </a:stretch>
        </p:blipFill>
        <p:spPr>
          <a:xfrm>
            <a:off x="3819207" y="992377"/>
            <a:ext cx="4553585" cy="22863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2052</TotalTime>
  <Words>2776</Words>
  <Application>Microsoft Office PowerPoint</Application>
  <PresentationFormat>Widescreen</PresentationFormat>
  <Paragraphs>333</Paragraphs>
  <Slides>35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Proxima Nova</vt:lpstr>
      <vt:lpstr>Times New Roman</vt:lpstr>
      <vt:lpstr>Office Theme</vt:lpstr>
      <vt:lpstr>Diabetic Retinopathy Diagnosis and Classification using Vision Transformer</vt:lpstr>
      <vt:lpstr>Introduction</vt:lpstr>
      <vt:lpstr>DOMAIN – ARTIFICIAL INTELLIGENCE</vt:lpstr>
      <vt:lpstr>PowerPoint Presentation</vt:lpstr>
      <vt:lpstr>Problem statement</vt:lpstr>
      <vt:lpstr>LITERATURE SURVEY</vt:lpstr>
      <vt:lpstr>PowerPoint Presentation</vt:lpstr>
      <vt:lpstr>PowerPoint Presentation</vt:lpstr>
      <vt:lpstr>Existing System</vt:lpstr>
      <vt:lpstr>Limitations of existing solution</vt:lpstr>
      <vt:lpstr>Proposed System</vt:lpstr>
      <vt:lpstr>Modules</vt:lpstr>
      <vt:lpstr>Modules</vt:lpstr>
      <vt:lpstr>Modules</vt:lpstr>
      <vt:lpstr>Modules</vt:lpstr>
      <vt:lpstr>Modules</vt:lpstr>
      <vt:lpstr>Modules</vt:lpstr>
      <vt:lpstr>PowerPoint Presentation</vt:lpstr>
      <vt:lpstr>Parameters</vt:lpstr>
      <vt:lpstr>Metrics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Requirements</vt:lpstr>
      <vt:lpstr>Conclusion</vt:lpstr>
      <vt:lpstr>Publication Status</vt:lpstr>
      <vt:lpstr>Publication Status</vt:lpstr>
      <vt:lpstr> References</vt:lpstr>
      <vt:lpstr> References</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Sreram</dc:creator>
  <cp:lastModifiedBy>Rooban Chakkaravarthi</cp:lastModifiedBy>
  <cp:revision>46</cp:revision>
  <dcterms:created xsi:type="dcterms:W3CDTF">2024-07-07T18:39:44Z</dcterms:created>
  <dcterms:modified xsi:type="dcterms:W3CDTF">2026-03-30T02:07:19Z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442bbd5bdede48fc8385c417559cbb01</vt:lpwstr>
  </property>
</Properties>
</file>